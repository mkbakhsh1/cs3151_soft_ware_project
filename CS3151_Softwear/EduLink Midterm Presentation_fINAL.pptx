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project name, the course and that this deck covers the analysis phase: problem, market, canvas, SDGs and Vision 2030, personas, requirements, use cases, context diagram and project plan. Add team member names here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EduLink serves 6 user groups: principal, teachers, students, parents, administrative staff and IT support. Saudi general education has about 6.72 million students, 513,000 teachers and 36,800 schools (Argaam citing the Ministry, October 2024, as cited in Lab 1). The unverified point is the fee-payment gap: a parent survey is still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schools use two separate Ministry systems; private schools use paid platforms; the global leader is dated and had a breach. Online lessons for EduLink are quizzes only in Lab 4. Google Play reviews were not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that economic and legal feasibility are open. Cost lines: development time, hosting, payment gateway fees, SMS, support. Revenue idea: per-school subscription.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school is the buyer. Open question: private schools first, because public schools already use Noor and Madrasati.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Strategy 2030 is read here as Saudi Vision 2030, whose three themes are a vibrant society, a thriving economy and an ambitious nation. If the doctor means Effat University's own strategy, replace the lower row with its pillars and map the same features to them. SDG 16 includes effective, accountable and transparent institutions.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user groups: principal, teacher, student, parent, staff, IT support. The parent persona has the lowest technical skill, so the interface is designed around the parent first. Wording was corrected from Lab 2; the parent's education is shown as a diploma with the field to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that no field research has been done yet: the personas and stories come from the team and from the market study. The planned methods are how the requirements will be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30 requirements from Lab 3 were checked against Specific, Measurable, Achievable, Relevant and Time-bound. IDs keep the Lab 3 numbers; new ones are REQ-31 to REQ-40. Added: second factor (REQ-31), quizzes (REQ-32, REQ-33), failed payments (REQ-34), receipts (REQ-35, REQ-36), verified parent link (REQ-37), usability (REQ-38), no card data stored (REQ-39). Other fixes: REQ-3, 13, 14, 15, 21, 22,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actors: six human roles plus the Payment Gateway and the Notification Service. Priorities use MoSCoW. Each use case is traced to user stories and requirements in section 6 of the report. UC9 Pay Fees Online is the complex case, with decline and no-answer branches.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EduLink is one box. Six user roles and two outside services exchange data with it. The gateway handles Mada, credit card and Apple Pay; the notification service sends push alerts with SMS as fallback. Nothing inside the system is shown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team names and real dates. Each Must use case is done when its requirements pass their tests, which is why every requirement carries a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Likelihood and impact are the team's own estimates and should be confirmed. The other three risks in the report: right-to-left layout effort, documents drifting apart, team availability near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repeating the gap: no competitor combines administration, learning, parent communication and online fee payment. Then name the three open points: cost and price, privacy rules, and the survey.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2204A"/>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30"/>
            <a:ext cx="10566400" cy="4480570"/>
          </a:xfrm>
          <a:prstGeom prst="rect">
            <a:avLst/>
          </a:prstGeom>
          <a:noFill/>
          <a:ln/>
        </p:spPr>
        <p:txBody>
          <a:bodyPr wrap="square" lIns="0" tIns="0" rIns="0" bIns="0" rtlCol="0" anchor="t"/>
          <a:lstStyle>
            <a:lvl1pPr algn="l" indent="0" marL="0">
              <a:lnSpc>
                <a:spcPct val="140000"/>
              </a:lnSpc>
              <a:buNone/>
              <a:defRPr lang="en-US" sz="1600" dirty="0">
                <a:solidFill>
                  <a:srgbClr val="12204A"/>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2204A"/>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30"/>
            <a:ext cx="10566400" cy="4480570"/>
          </a:xfrm>
          <a:prstGeom prst="rect">
            <a:avLst/>
          </a:prstGeom>
          <a:noFill/>
          <a:ln/>
        </p:spPr>
        <p:txBody>
          <a:bodyPr wrap="square" lIns="0" tIns="0" rIns="0" bIns="0" rtlCol="0" anchor="t"/>
          <a:lstStyle>
            <a:lvl1pPr algn="l" indent="0" marL="0">
              <a:lnSpc>
                <a:spcPct val="140000"/>
              </a:lnSpc>
              <a:buNone/>
              <a:defRPr lang="en-US" sz="1600" dirty="0">
                <a:solidFill>
                  <a:srgbClr val="12204A"/>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2.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4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1AA6C9"/>
          </a:solidFill>
          <a:ln/>
        </p:spPr>
      </p:sp>
      <p:sp>
        <p:nvSpPr>
          <p:cNvPr id="3" name="Text 1"/>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2B544"/>
                </a:solidFill>
                <a:latin typeface="Public Sans" pitchFamily="34" charset="0"/>
                <a:ea typeface="Public Sans" pitchFamily="34" charset="-122"/>
                <a:cs typeface="Public Sans" pitchFamily="34" charset="-120"/>
              </a:rPr>
              <a:t>CS3151 SOFTWARE ENGINEERING · MIDTERM</a:t>
            </a:r>
            <a:endParaRPr lang="en-US" sz="1400" dirty="0"/>
          </a:p>
        </p:txBody>
      </p:sp>
      <p:sp>
        <p:nvSpPr>
          <p:cNvPr id="4" name="Text 2"/>
          <p:cNvSpPr/>
          <p:nvPr>
            <p:ph type="title"/>
          </p:nvPr>
        </p:nvSpPr>
        <p:spPr>
          <a:xfrm>
            <a:off x="812800" y="2513360"/>
            <a:ext cx="10883392" cy="1092200"/>
          </a:xfrm>
          <a:prstGeom prst="rect">
            <a:avLst/>
          </a:prstGeom>
          <a:noFill/>
          <a:ln/>
        </p:spPr>
        <p:txBody>
          <a:bodyPr wrap="square" lIns="0" tIns="0" rIns="0" bIns="0" rtlCol="0" anchor="t">
            <a:normAutofit/>
          </a:bodyPr>
          <a:lstStyle/>
          <a:p>
            <a:pPr algn="l" indent="0" marL="0">
              <a:lnSpc>
                <a:spcPts val="8400"/>
              </a:lnSpc>
              <a:buNone/>
            </a:pPr>
            <a:r>
              <a:rPr lang="en-US" sz="8000" b="1" i="0" dirty="0">
                <a:solidFill>
                  <a:srgbClr val="F7F6F1"/>
                </a:solidFill>
                <a:latin typeface="Rubik" pitchFamily="34" charset="0"/>
                <a:ea typeface="Rubik" pitchFamily="34" charset="-122"/>
                <a:cs typeface="Rubik" pitchFamily="34" charset="-120"/>
              </a:rPr>
              <a:t>EduLink</a:t>
            </a:r>
            <a:endParaRPr lang="en-US" sz="8000" dirty="0"/>
          </a:p>
        </p:txBody>
      </p:sp>
      <p:sp>
        <p:nvSpPr>
          <p:cNvPr id="5" name="Text 3"/>
          <p:cNvSpPr/>
          <p:nvPr/>
        </p:nvSpPr>
        <p:spPr>
          <a:xfrm>
            <a:off x="812800" y="3732560"/>
            <a:ext cx="10883392"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3EA"/>
                </a:solidFill>
                <a:latin typeface="Public Sans" pitchFamily="34" charset="0"/>
                <a:ea typeface="Public Sans" pitchFamily="34" charset="-122"/>
                <a:cs typeface="Public Sans" pitchFamily="34" charset="-120"/>
              </a:rPr>
              <a:t>Requirements analysis for a bilingual school management platform</a:t>
            </a:r>
            <a:endParaRPr lang="en-US" sz="2200" dirty="0"/>
          </a:p>
        </p:txBody>
      </p:sp>
      <p:sp>
        <p:nvSpPr>
          <p:cNvPr id="6" name="Text 4"/>
          <p:cNvSpPr/>
          <p:nvPr/>
        </p:nvSpPr>
        <p:spPr>
          <a:xfrm>
            <a:off x="812800" y="5547420"/>
            <a:ext cx="342221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A"/>
                </a:solidFill>
                <a:latin typeface="Public Sans" pitchFamily="34" charset="0"/>
                <a:ea typeface="Public Sans" pitchFamily="34" charset="-122"/>
                <a:cs typeface="Public Sans" pitchFamily="34" charset="-120"/>
              </a:rPr>
              <a:t>Effat University</a:t>
            </a:r>
            <a:endParaRPr lang="en-US" sz="1400" dirty="0"/>
          </a:p>
          <a:p>
            <a:pPr algn="l" indent="0" marL="0">
              <a:lnSpc>
                <a:spcPts val="1960"/>
              </a:lnSpc>
              <a:buNone/>
            </a:pPr>
            <a:r>
              <a:rPr lang="en-US" sz="1400" dirty="0">
                <a:solidFill>
                  <a:srgbClr val="C9D3EA"/>
                </a:solidFill>
                <a:latin typeface="Public Sans" pitchFamily="34" charset="0"/>
                <a:ea typeface="Public Sans" pitchFamily="34" charset="-122"/>
                <a:cs typeface="Public Sans" pitchFamily="34" charset="-120"/>
              </a:rPr>
              <a:t>Engineering College · Computer Science</a:t>
            </a:r>
            <a:endParaRPr lang="en-US" sz="1400" dirty="0"/>
          </a:p>
        </p:txBody>
      </p:sp>
      <p:sp>
        <p:nvSpPr>
          <p:cNvPr id="7" name="Text 5"/>
          <p:cNvSpPr/>
          <p:nvPr/>
        </p:nvSpPr>
        <p:spPr>
          <a:xfrm>
            <a:off x="9541779" y="5547420"/>
            <a:ext cx="1837421" cy="52318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C9D3EA"/>
                </a:solidFill>
                <a:latin typeface="Public Sans" pitchFamily="34" charset="0"/>
                <a:ea typeface="Public Sans" pitchFamily="34" charset="-122"/>
                <a:cs typeface="Public Sans" pitchFamily="34" charset="-120"/>
              </a:rPr>
              <a:t>Dr. Passent Elkafrawy</a:t>
            </a:r>
            <a:endParaRPr lang="en-US" sz="1400" dirty="0"/>
          </a:p>
          <a:p>
            <a:pPr algn="r" indent="0" marL="0">
              <a:lnSpc>
                <a:spcPts val="1960"/>
              </a:lnSpc>
              <a:buNone/>
            </a:pPr>
            <a:r>
              <a:rPr lang="en-US" sz="1400" dirty="0">
                <a:solidFill>
                  <a:srgbClr val="C9D3EA"/>
                </a:solidFill>
                <a:latin typeface="Public Sans" pitchFamily="34" charset="0"/>
                <a:ea typeface="Public Sans" pitchFamily="34" charset="-122"/>
                <a:cs typeface="Public Sans" pitchFamily="34" charset="-120"/>
              </a:rPr>
              <a:t>Fall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4A"/>
                </a:solidFill>
                <a:latin typeface="Rubik" pitchFamily="34" charset="0"/>
                <a:ea typeface="Rubik" pitchFamily="34" charset="-122"/>
                <a:cs typeface="Rubik" pitchFamily="34" charset="-120"/>
              </a:rPr>
              <a:t>Problem to be solved</a:t>
            </a:r>
            <a:endParaRPr lang="en-US" sz="3200" dirty="0"/>
          </a:p>
        </p:txBody>
      </p:sp>
      <p:sp>
        <p:nvSpPr>
          <p:cNvPr id="3" name="Text 1"/>
          <p:cNvSpPr/>
          <p:nvPr/>
        </p:nvSpPr>
        <p:spPr>
          <a:xfrm>
            <a:off x="812800" y="148843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4560"/>
                </a:solidFill>
                <a:latin typeface="Public Sans" pitchFamily="34" charset="0"/>
                <a:ea typeface="Public Sans" pitchFamily="34" charset="-122"/>
                <a:cs typeface="Public Sans" pitchFamily="34" charset="-120"/>
              </a:rPr>
              <a:t>Saudi schools run records, learning and fees on separate systems and paper, so parents, teachers and principals lose time and information.</a:t>
            </a:r>
            <a:endParaRPr lang="en-US" sz="1600" dirty="0"/>
          </a:p>
        </p:txBody>
      </p:sp>
      <p:sp>
        <p:nvSpPr>
          <p:cNvPr id="4" name="Shape 2"/>
          <p:cNvSpPr/>
          <p:nvPr/>
        </p:nvSpPr>
        <p:spPr>
          <a:xfrm>
            <a:off x="815975" y="2289125"/>
            <a:ext cx="3414167" cy="1095921"/>
          </a:xfrm>
          <a:prstGeom prst="roundRect">
            <a:avLst>
              <a:gd name="adj" fmla="val 8981"/>
            </a:avLst>
          </a:prstGeom>
          <a:solidFill>
            <a:srgbClr val="FFFEFA"/>
          </a:solidFill>
          <a:ln w="6350">
            <a:solidFill>
              <a:srgbClr val="DCDFE6"/>
            </a:solidFill>
            <a:prstDash val="solid"/>
          </a:ln>
        </p:spPr>
      </p:sp>
      <p:sp>
        <p:nvSpPr>
          <p:cNvPr id="5" name="Text 3"/>
          <p:cNvSpPr/>
          <p:nvPr/>
        </p:nvSpPr>
        <p:spPr>
          <a:xfrm>
            <a:off x="996950" y="2470100"/>
            <a:ext cx="314378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C98"/>
                </a:solidFill>
                <a:latin typeface="Public Sans" pitchFamily="34" charset="0"/>
                <a:ea typeface="Public Sans" pitchFamily="34" charset="-122"/>
                <a:cs typeface="Public Sans" pitchFamily="34" charset="-120"/>
              </a:rPr>
              <a:t>Missed alerts</a:t>
            </a:r>
            <a:endParaRPr lang="en-US" sz="1600" dirty="0"/>
          </a:p>
        </p:txBody>
      </p:sp>
      <p:sp>
        <p:nvSpPr>
          <p:cNvPr id="6" name="Text 4"/>
          <p:cNvSpPr/>
          <p:nvPr/>
        </p:nvSpPr>
        <p:spPr>
          <a:xfrm>
            <a:off x="996950" y="2777430"/>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04A"/>
                </a:solidFill>
                <a:latin typeface="Public Sans" pitchFamily="34" charset="0"/>
                <a:ea typeface="Public Sans" pitchFamily="34" charset="-122"/>
                <a:cs typeface="Public Sans" pitchFamily="34" charset="-120"/>
              </a:rPr>
              <a:t>Classera's most common complaint is missed assignment and test alerts.</a:t>
            </a:r>
            <a:endParaRPr lang="en-US" sz="1200" dirty="0"/>
          </a:p>
        </p:txBody>
      </p:sp>
      <p:sp>
        <p:nvSpPr>
          <p:cNvPr id="7" name="Shape 5"/>
          <p:cNvSpPr/>
          <p:nvPr/>
        </p:nvSpPr>
        <p:spPr>
          <a:xfrm>
            <a:off x="4388892" y="2289125"/>
            <a:ext cx="3414167" cy="1095921"/>
          </a:xfrm>
          <a:prstGeom prst="roundRect">
            <a:avLst>
              <a:gd name="adj" fmla="val 8981"/>
            </a:avLst>
          </a:prstGeom>
          <a:solidFill>
            <a:srgbClr val="FFFEFA"/>
          </a:solidFill>
          <a:ln w="6350">
            <a:solidFill>
              <a:srgbClr val="DCDFE6"/>
            </a:solidFill>
            <a:prstDash val="solid"/>
          </a:ln>
        </p:spPr>
      </p:sp>
      <p:sp>
        <p:nvSpPr>
          <p:cNvPr id="8" name="Text 6"/>
          <p:cNvSpPr/>
          <p:nvPr/>
        </p:nvSpPr>
        <p:spPr>
          <a:xfrm>
            <a:off x="4569867" y="2470100"/>
            <a:ext cx="314378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C98"/>
                </a:solidFill>
                <a:latin typeface="Public Sans" pitchFamily="34" charset="0"/>
                <a:ea typeface="Public Sans" pitchFamily="34" charset="-122"/>
                <a:cs typeface="Public Sans" pitchFamily="34" charset="-120"/>
              </a:rPr>
              <a:t>No online fee payment</a:t>
            </a:r>
            <a:endParaRPr lang="en-US" sz="1600" dirty="0"/>
          </a:p>
        </p:txBody>
      </p:sp>
      <p:sp>
        <p:nvSpPr>
          <p:cNvPr id="9" name="Text 7"/>
          <p:cNvSpPr/>
          <p:nvPr/>
        </p:nvSpPr>
        <p:spPr>
          <a:xfrm>
            <a:off x="4569867" y="2777430"/>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04A"/>
                </a:solidFill>
                <a:latin typeface="Public Sans" pitchFamily="34" charset="0"/>
                <a:ea typeface="Public Sans" pitchFamily="34" charset="-122"/>
                <a:cs typeface="Public Sans" pitchFamily="34" charset="-120"/>
              </a:rPr>
              <a:t>None of the four systems studied documents it for parents.</a:t>
            </a:r>
            <a:endParaRPr lang="en-US" sz="1200" dirty="0"/>
          </a:p>
        </p:txBody>
      </p:sp>
      <p:sp>
        <p:nvSpPr>
          <p:cNvPr id="10" name="Shape 8"/>
          <p:cNvSpPr/>
          <p:nvPr/>
        </p:nvSpPr>
        <p:spPr>
          <a:xfrm>
            <a:off x="7961809" y="2289125"/>
            <a:ext cx="3414216" cy="1095921"/>
          </a:xfrm>
          <a:prstGeom prst="roundRect">
            <a:avLst>
              <a:gd name="adj" fmla="val 8981"/>
            </a:avLst>
          </a:prstGeom>
          <a:solidFill>
            <a:srgbClr val="FFFEFA"/>
          </a:solidFill>
          <a:ln w="6350">
            <a:solidFill>
              <a:srgbClr val="DCDFE6"/>
            </a:solidFill>
            <a:prstDash val="solid"/>
          </a:ln>
        </p:spPr>
      </p:sp>
      <p:sp>
        <p:nvSpPr>
          <p:cNvPr id="11" name="Text 9"/>
          <p:cNvSpPr/>
          <p:nvPr/>
        </p:nvSpPr>
        <p:spPr>
          <a:xfrm>
            <a:off x="8142784" y="2470100"/>
            <a:ext cx="314383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C98"/>
                </a:solidFill>
                <a:latin typeface="Public Sans" pitchFamily="34" charset="0"/>
                <a:ea typeface="Public Sans" pitchFamily="34" charset="-122"/>
                <a:cs typeface="Public Sans" pitchFamily="34" charset="-120"/>
              </a:rPr>
              <a:t>Unreliable app</a:t>
            </a:r>
            <a:endParaRPr lang="en-US" sz="1600" dirty="0"/>
          </a:p>
        </p:txBody>
      </p:sp>
      <p:sp>
        <p:nvSpPr>
          <p:cNvPr id="12" name="Text 10"/>
          <p:cNvSpPr/>
          <p:nvPr/>
        </p:nvSpPr>
        <p:spPr>
          <a:xfrm>
            <a:off x="8142784" y="2777430"/>
            <a:ext cx="31438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04A"/>
                </a:solidFill>
                <a:latin typeface="Public Sans" pitchFamily="34" charset="0"/>
                <a:ea typeface="Public Sans" pitchFamily="34" charset="-122"/>
                <a:cs typeface="Public Sans" pitchFamily="34" charset="-120"/>
              </a:rPr>
              <a:t>Ministry companion app rated 2.3/5; login errors and freezing dominate reviews.</a:t>
            </a:r>
            <a:endParaRPr lang="en-US" sz="1200" dirty="0"/>
          </a:p>
        </p:txBody>
      </p:sp>
      <p:sp>
        <p:nvSpPr>
          <p:cNvPr id="13" name="Shape 11"/>
          <p:cNvSpPr/>
          <p:nvPr/>
        </p:nvSpPr>
        <p:spPr>
          <a:xfrm>
            <a:off x="815975" y="3543796"/>
            <a:ext cx="3414167" cy="1095921"/>
          </a:xfrm>
          <a:prstGeom prst="roundRect">
            <a:avLst>
              <a:gd name="adj" fmla="val 8981"/>
            </a:avLst>
          </a:prstGeom>
          <a:solidFill>
            <a:srgbClr val="FFFEFA"/>
          </a:solidFill>
          <a:ln w="6350">
            <a:solidFill>
              <a:srgbClr val="DCDFE6"/>
            </a:solidFill>
            <a:prstDash val="solid"/>
          </a:ln>
        </p:spPr>
      </p:sp>
      <p:sp>
        <p:nvSpPr>
          <p:cNvPr id="14" name="Text 12"/>
          <p:cNvSpPr/>
          <p:nvPr/>
        </p:nvSpPr>
        <p:spPr>
          <a:xfrm>
            <a:off x="996950" y="3724771"/>
            <a:ext cx="314378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C98"/>
                </a:solidFill>
                <a:latin typeface="Public Sans" pitchFamily="34" charset="0"/>
                <a:ea typeface="Public Sans" pitchFamily="34" charset="-122"/>
                <a:cs typeface="Public Sans" pitchFamily="34" charset="-120"/>
              </a:rPr>
              <a:t>Dated interface</a:t>
            </a:r>
            <a:endParaRPr lang="en-US" sz="1600" dirty="0"/>
          </a:p>
        </p:txBody>
      </p:sp>
      <p:sp>
        <p:nvSpPr>
          <p:cNvPr id="15" name="Text 13"/>
          <p:cNvSpPr/>
          <p:nvPr/>
        </p:nvSpPr>
        <p:spPr>
          <a:xfrm>
            <a:off x="996950" y="4032101"/>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04A"/>
                </a:solidFill>
                <a:latin typeface="Public Sans" pitchFamily="34" charset="0"/>
                <a:ea typeface="Public Sans" pitchFamily="34" charset="-122"/>
                <a:cs typeface="Public Sans" pitchFamily="34" charset="-120"/>
              </a:rPr>
              <a:t>PowerSchool is called "dated" and "way too complicated".</a:t>
            </a:r>
            <a:endParaRPr lang="en-US" sz="1200" dirty="0"/>
          </a:p>
        </p:txBody>
      </p:sp>
      <p:sp>
        <p:nvSpPr>
          <p:cNvPr id="16" name="Shape 14"/>
          <p:cNvSpPr/>
          <p:nvPr/>
        </p:nvSpPr>
        <p:spPr>
          <a:xfrm>
            <a:off x="4388892" y="3543796"/>
            <a:ext cx="3414167" cy="1095921"/>
          </a:xfrm>
          <a:prstGeom prst="roundRect">
            <a:avLst>
              <a:gd name="adj" fmla="val 8981"/>
            </a:avLst>
          </a:prstGeom>
          <a:solidFill>
            <a:srgbClr val="FFFEFA"/>
          </a:solidFill>
          <a:ln w="6350">
            <a:solidFill>
              <a:srgbClr val="DCDFE6"/>
            </a:solidFill>
            <a:prstDash val="solid"/>
          </a:ln>
        </p:spPr>
      </p:sp>
      <p:sp>
        <p:nvSpPr>
          <p:cNvPr id="17" name="Text 15"/>
          <p:cNvSpPr/>
          <p:nvPr/>
        </p:nvSpPr>
        <p:spPr>
          <a:xfrm>
            <a:off x="4569867" y="3724771"/>
            <a:ext cx="314378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C98"/>
                </a:solidFill>
                <a:latin typeface="Public Sans" pitchFamily="34" charset="0"/>
                <a:ea typeface="Public Sans" pitchFamily="34" charset="-122"/>
                <a:cs typeface="Public Sans" pitchFamily="34" charset="-120"/>
              </a:rPr>
              <a:t>Weak security</a:t>
            </a:r>
            <a:endParaRPr lang="en-US" sz="1600" dirty="0"/>
          </a:p>
        </p:txBody>
      </p:sp>
      <p:sp>
        <p:nvSpPr>
          <p:cNvPr id="18" name="Text 16"/>
          <p:cNvSpPr/>
          <p:nvPr/>
        </p:nvSpPr>
        <p:spPr>
          <a:xfrm>
            <a:off x="4569867" y="4032101"/>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04A"/>
                </a:solidFill>
                <a:latin typeface="Public Sans" pitchFamily="34" charset="0"/>
                <a:ea typeface="Public Sans" pitchFamily="34" charset="-122"/>
                <a:cs typeface="Public Sans" pitchFamily="34" charset="-120"/>
              </a:rPr>
              <a:t>PowerSchool's December 2024 breach was reported at 62 million students.</a:t>
            </a:r>
            <a:endParaRPr lang="en-US" sz="1200" dirty="0"/>
          </a:p>
        </p:txBody>
      </p:sp>
      <p:sp>
        <p:nvSpPr>
          <p:cNvPr id="19" name="Shape 17"/>
          <p:cNvSpPr/>
          <p:nvPr/>
        </p:nvSpPr>
        <p:spPr>
          <a:xfrm>
            <a:off x="7961809" y="3543796"/>
            <a:ext cx="3414216" cy="1095921"/>
          </a:xfrm>
          <a:prstGeom prst="roundRect">
            <a:avLst>
              <a:gd name="adj" fmla="val 8981"/>
            </a:avLst>
          </a:prstGeom>
          <a:solidFill>
            <a:srgbClr val="FFFEFA"/>
          </a:solidFill>
          <a:ln w="6350">
            <a:solidFill>
              <a:srgbClr val="DCDFE6"/>
            </a:solidFill>
            <a:prstDash val="solid"/>
          </a:ln>
        </p:spPr>
      </p:sp>
      <p:sp>
        <p:nvSpPr>
          <p:cNvPr id="20" name="Text 18"/>
          <p:cNvSpPr/>
          <p:nvPr/>
        </p:nvSpPr>
        <p:spPr>
          <a:xfrm>
            <a:off x="8142784" y="3724771"/>
            <a:ext cx="314383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C98"/>
                </a:solidFill>
                <a:latin typeface="Public Sans" pitchFamily="34" charset="0"/>
                <a:ea typeface="Public Sans" pitchFamily="34" charset="-122"/>
                <a:cs typeface="Public Sans" pitchFamily="34" charset="-120"/>
              </a:rPr>
              <a:t>Paper and repeated entry</a:t>
            </a:r>
            <a:endParaRPr lang="en-US" sz="1600" dirty="0"/>
          </a:p>
        </p:txBody>
      </p:sp>
      <p:sp>
        <p:nvSpPr>
          <p:cNvPr id="21" name="Text 19"/>
          <p:cNvSpPr/>
          <p:nvPr/>
        </p:nvSpPr>
        <p:spPr>
          <a:xfrm>
            <a:off x="8142784" y="4032101"/>
            <a:ext cx="31438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04A"/>
                </a:solidFill>
                <a:latin typeface="Public Sans" pitchFamily="34" charset="0"/>
                <a:ea typeface="Public Sans" pitchFamily="34" charset="-122"/>
                <a:cs typeface="Public Sans" pitchFamily="34" charset="-120"/>
              </a:rPr>
              <a:t>Teachers re-enter grades and use paper attendance sheets.</a:t>
            </a:r>
            <a:endParaRPr lang="en-US" sz="1200" dirty="0"/>
          </a:p>
        </p:txBody>
      </p:sp>
      <p:sp>
        <p:nvSpPr>
          <p:cNvPr id="22" name="Text 20"/>
          <p:cNvSpPr/>
          <p:nvPr/>
        </p:nvSpPr>
        <p:spPr>
          <a:xfrm>
            <a:off x="812800" y="6238280"/>
            <a:ext cx="37495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Public Sans" pitchFamily="34" charset="0"/>
                <a:ea typeface="Public Sans" pitchFamily="34" charset="-122"/>
                <a:cs typeface="Public Sans" pitchFamily="34" charset="-120"/>
              </a:rPr>
              <a:t>Sources: Lab 1 market study; Lab 2 personas</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8"/>
                </a:solidFill>
                <a:latin typeface="Public Sans" pitchFamily="34" charset="0"/>
                <a:ea typeface="Public Sans" pitchFamily="34" charset="-122"/>
                <a:cs typeface="Public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5223"/>
          </a:xfrm>
          <a:prstGeom prst="rect">
            <a:avLst/>
          </a:prstGeom>
          <a:noFill/>
          <a:ln/>
        </p:spPr>
        <p:txBody>
          <a:bodyPr wrap="square" lIns="0" tIns="0" rIns="0" bIns="0" rtlCol="0" anchor="t">
            <a:normAutofit/>
          </a:bodyPr>
          <a:lstStyle/>
          <a:p>
            <a:pPr algn="l" indent="0" marL="0">
              <a:lnSpc>
                <a:spcPts val="3267"/>
              </a:lnSpc>
              <a:buNone/>
            </a:pPr>
            <a:r>
              <a:rPr lang="en-US" sz="2970" b="1" i="0" dirty="0">
                <a:solidFill>
                  <a:srgbClr val="12204A"/>
                </a:solidFill>
                <a:latin typeface="Rubik" pitchFamily="34" charset="0"/>
                <a:ea typeface="Rubik" pitchFamily="34" charset="-122"/>
                <a:cs typeface="Rubik" pitchFamily="34" charset="-120"/>
              </a:rPr>
              <a:t>Market study: no one covers everything</a:t>
            </a:r>
            <a:endParaRPr lang="en-US" sz="297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38523"/>
          <a:ext cx="10553700" cy="3613547"/>
        </p:xfrm>
        <a:graphic>
          <a:graphicData uri="http://schemas.openxmlformats.org/drawingml/2006/table">
            <a:tbl>
              <a:tblPr/>
              <a:tblGrid>
                <a:gridCol w="1583055"/>
                <a:gridCol w="1160907"/>
                <a:gridCol w="1583055"/>
                <a:gridCol w="1477518"/>
                <a:gridCol w="1794129"/>
                <a:gridCol w="2955036"/>
              </a:tblGrid>
              <a:tr h="322659">
                <a:tc>
                  <a:txBody>
                    <a:bodyPr/>
                    <a:lstStyle/>
                    <a:p>
                      <a:pPr indent="0" marL="0">
                        <a:lnSpc>
                          <a:spcPts val="1627"/>
                        </a:lnSpc>
                        <a:buNone/>
                      </a:pPr>
                      <a:r>
                        <a:rPr lang="en-US" sz="1163" b="1" dirty="0">
                          <a:solidFill>
                            <a:srgbClr val="12204A"/>
                          </a:solidFill>
                          <a:latin typeface="Public Sans" pitchFamily="34" charset="0"/>
                          <a:ea typeface="Public Sans" pitchFamily="34" charset="-122"/>
                          <a:cs typeface="Public Sans" pitchFamily="34" charset="-120"/>
                        </a:rPr>
                        <a:t>Feature</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27"/>
                        </a:lnSpc>
                        <a:buNone/>
                      </a:pPr>
                      <a:r>
                        <a:rPr lang="en-US" sz="1163" b="1" dirty="0">
                          <a:solidFill>
                            <a:srgbClr val="12204A"/>
                          </a:solidFill>
                          <a:latin typeface="Public Sans" pitchFamily="34" charset="0"/>
                          <a:ea typeface="Public Sans" pitchFamily="34" charset="-122"/>
                          <a:cs typeface="Public Sans" pitchFamily="34" charset="-120"/>
                        </a:rPr>
                        <a:t>Noor</a:t>
                      </a:r>
                      <a:endParaRPr lang="en-US" sz="1163" dirty="0">
                        <a:latin typeface="Public Sans" charset="0"/>
                        <a:ea typeface="Public Sans" charset="0"/>
                        <a:cs typeface="Public Sans" charset="0"/>
                      </a:endParaRPr>
                    </a:p>
                  </a:txBody>
                  <a:tcPr marL="51673" marR="51673" marT="51673" marB="51673"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27"/>
                        </a:lnSpc>
                        <a:buNone/>
                      </a:pPr>
                      <a:r>
                        <a:rPr lang="en-US" sz="1163" b="1" dirty="0">
                          <a:solidFill>
                            <a:srgbClr val="12204A"/>
                          </a:solidFill>
                          <a:latin typeface="Public Sans" pitchFamily="34" charset="0"/>
                          <a:ea typeface="Public Sans" pitchFamily="34" charset="-122"/>
                          <a:cs typeface="Public Sans" pitchFamily="34" charset="-120"/>
                        </a:rPr>
                        <a:t>Madrasati</a:t>
                      </a:r>
                      <a:endParaRPr lang="en-US" sz="1163" dirty="0">
                        <a:latin typeface="Public Sans" charset="0"/>
                        <a:ea typeface="Public Sans" charset="0"/>
                        <a:cs typeface="Public Sans" charset="0"/>
                      </a:endParaRPr>
                    </a:p>
                  </a:txBody>
                  <a:tcPr marL="51673" marR="51673" marT="51673" marB="51673"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27"/>
                        </a:lnSpc>
                        <a:buNone/>
                      </a:pPr>
                      <a:r>
                        <a:rPr lang="en-US" sz="1163" b="1" dirty="0">
                          <a:solidFill>
                            <a:srgbClr val="12204A"/>
                          </a:solidFill>
                          <a:latin typeface="Public Sans" pitchFamily="34" charset="0"/>
                          <a:ea typeface="Public Sans" pitchFamily="34" charset="-122"/>
                          <a:cs typeface="Public Sans" pitchFamily="34" charset="-120"/>
                        </a:rPr>
                        <a:t>Classera</a:t>
                      </a:r>
                      <a:endParaRPr lang="en-US" sz="1163" dirty="0">
                        <a:latin typeface="Public Sans" charset="0"/>
                        <a:ea typeface="Public Sans" charset="0"/>
                        <a:cs typeface="Public Sans" charset="0"/>
                      </a:endParaRPr>
                    </a:p>
                  </a:txBody>
                  <a:tcPr marL="51673" marR="51673" marT="51673" marB="51673"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27"/>
                        </a:lnSpc>
                        <a:buNone/>
                      </a:pPr>
                      <a:r>
                        <a:rPr lang="en-US" sz="1163" b="1" dirty="0">
                          <a:solidFill>
                            <a:srgbClr val="12204A"/>
                          </a:solidFill>
                          <a:latin typeface="Public Sans" pitchFamily="34" charset="0"/>
                          <a:ea typeface="Public Sans" pitchFamily="34" charset="-122"/>
                          <a:cs typeface="Public Sans" pitchFamily="34" charset="-120"/>
                        </a:rPr>
                        <a:t>PowerSchool</a:t>
                      </a:r>
                      <a:endParaRPr lang="en-US" sz="1163" dirty="0">
                        <a:latin typeface="Public Sans" charset="0"/>
                        <a:ea typeface="Public Sans" charset="0"/>
                        <a:cs typeface="Public Sans" charset="0"/>
                      </a:endParaRPr>
                    </a:p>
                  </a:txBody>
                  <a:tcPr marL="51673" marR="51673" marT="51673" marB="51673"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627"/>
                        </a:lnSpc>
                        <a:buNone/>
                      </a:pPr>
                      <a:r>
                        <a:rPr lang="en-US" sz="1163" b="1" dirty="0">
                          <a:solidFill>
                            <a:srgbClr val="12204A"/>
                          </a:solidFill>
                          <a:latin typeface="Public Sans" pitchFamily="34" charset="0"/>
                          <a:ea typeface="Public Sans" pitchFamily="34" charset="-122"/>
                          <a:cs typeface="Public Sans" pitchFamily="34" charset="-120"/>
                        </a:rPr>
                        <a:t>EduLink</a:t>
                      </a:r>
                      <a:endParaRPr lang="en-US" sz="1163" dirty="0">
                        <a:latin typeface="Public Sans" charset="0"/>
                        <a:ea typeface="Public Sans" charset="0"/>
                        <a:cs typeface="Public Sans" charset="0"/>
                      </a:endParaRPr>
                    </a:p>
                  </a:txBody>
                  <a:tcPr marL="51673" marR="51673" marT="51673" marB="51673"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529084">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Attendance, timetable</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Yes</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No</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No</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Yes</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Yes</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29084">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Learning, assignments</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No</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Yes</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Yes</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Yes</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Yes</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22659">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Parent portal</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Yes</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Yes</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No</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Yes</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Yes</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29134">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Teacher-parent messaging</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No</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No</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Yes</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No</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Yes</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29134">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Alerts for struggling students</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No</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No</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Yes</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Yes</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Yes</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29134">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Admin and learning together</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No</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No</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No</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Yes</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Yes</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22659">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Online fee payment</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No</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No</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No</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No</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27"/>
                        </a:lnSpc>
                        <a:buNone/>
                      </a:pPr>
                      <a:r>
                        <a:rPr lang="en-US" sz="1163" dirty="0">
                          <a:solidFill>
                            <a:srgbClr val="12204A"/>
                          </a:solidFill>
                          <a:latin typeface="Public Sans" pitchFamily="34" charset="0"/>
                          <a:ea typeface="Public Sans" pitchFamily="34" charset="-122"/>
                          <a:cs typeface="Public Sans" pitchFamily="34" charset="-120"/>
                        </a:rPr>
                        <a:t>Yes</a:t>
                      </a:r>
                      <a:endParaRPr lang="en-US" sz="1163" dirty="0">
                        <a:latin typeface="Public Sans" charset="0"/>
                        <a:ea typeface="Public Sans" charset="0"/>
                        <a:cs typeface="Public Sans" charset="0"/>
                      </a:endParaRPr>
                    </a:p>
                  </a:txBody>
                  <a:tcPr marL="51673" marR="51673" marT="51673" marB="51673"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4" name="Text 1"/>
          <p:cNvSpPr/>
          <p:nvPr/>
        </p:nvSpPr>
        <p:spPr>
          <a:xfrm>
            <a:off x="812800" y="5255270"/>
            <a:ext cx="3523132" cy="6121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A4560"/>
                </a:solidFill>
                <a:latin typeface="Public Sans" pitchFamily="34" charset="0"/>
                <a:ea typeface="Public Sans" pitchFamily="34" charset="-122"/>
                <a:cs typeface="Public Sans" pitchFamily="34" charset="-120"/>
              </a:rPr>
              <a:t>Noor, Madrasati:</a:t>
            </a:r>
            <a:r>
              <a:rPr lang="en-US" sz="1200" dirty="0">
                <a:solidFill>
                  <a:srgbClr val="3A4560"/>
                </a:solidFill>
                <a:latin typeface="Public Sans" pitchFamily="34" charset="0"/>
                <a:ea typeface="Public Sans" pitchFamily="34" charset="-122"/>
                <a:cs typeface="Public Sans" pitchFamily="34" charset="-120"/>
              </a:rPr>
              <a:t> Ministry systems, free for schools; about 6 million students on Madrasati in 2020-21.</a:t>
            </a:r>
            <a:endParaRPr lang="en-US" sz="1200" dirty="0"/>
          </a:p>
        </p:txBody>
      </p:sp>
      <p:sp>
        <p:nvSpPr>
          <p:cNvPr id="5" name="Text 2"/>
          <p:cNvSpPr/>
          <p:nvPr/>
        </p:nvSpPr>
        <p:spPr>
          <a:xfrm>
            <a:off x="4385717" y="5255270"/>
            <a:ext cx="3523183" cy="6121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A4560"/>
                </a:solidFill>
                <a:latin typeface="Public Sans" pitchFamily="34" charset="0"/>
                <a:ea typeface="Public Sans" pitchFamily="34" charset="-122"/>
                <a:cs typeface="Public Sans" pitchFamily="34" charset="-120"/>
              </a:rPr>
              <a:t>Classera:</a:t>
            </a:r>
            <a:r>
              <a:rPr lang="en-US" sz="1200" dirty="0">
                <a:solidFill>
                  <a:srgbClr val="3A4560"/>
                </a:solidFill>
                <a:latin typeface="Public Sans" pitchFamily="34" charset="0"/>
                <a:ea typeface="Public Sans" pitchFamily="34" charset="-122"/>
                <a:cs typeface="Public Sans" pitchFamily="34" charset="-120"/>
              </a:rPr>
              <a:t> 10+ million users; about 80% of A-class private schools in Saudi.</a:t>
            </a:r>
            <a:endParaRPr lang="en-US" sz="1200" dirty="0"/>
          </a:p>
        </p:txBody>
      </p:sp>
      <p:sp>
        <p:nvSpPr>
          <p:cNvPr id="6" name="Text 3"/>
          <p:cNvSpPr/>
          <p:nvPr/>
        </p:nvSpPr>
        <p:spPr>
          <a:xfrm>
            <a:off x="7958683" y="5255270"/>
            <a:ext cx="3523132" cy="61213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A4560"/>
                </a:solidFill>
                <a:latin typeface="Public Sans" pitchFamily="34" charset="0"/>
                <a:ea typeface="Public Sans" pitchFamily="34" charset="-122"/>
                <a:cs typeface="Public Sans" pitchFamily="34" charset="-120"/>
              </a:rPr>
              <a:t>PowerSchool:</a:t>
            </a:r>
            <a:r>
              <a:rPr lang="en-US" sz="1200" dirty="0">
                <a:solidFill>
                  <a:srgbClr val="3A4560"/>
                </a:solidFill>
                <a:latin typeface="Public Sans" pitchFamily="34" charset="0"/>
                <a:ea typeface="Public Sans" pitchFamily="34" charset="-122"/>
                <a:cs typeface="Public Sans" pitchFamily="34" charset="-120"/>
              </a:rPr>
              <a:t> 45+ million students in 90+ countries; quote-based and costly.</a:t>
            </a:r>
            <a:endParaRPr lang="en-US" sz="1200" dirty="0"/>
          </a:p>
        </p:txBody>
      </p:sp>
      <p:sp>
        <p:nvSpPr>
          <p:cNvPr id="7" name="Text 4"/>
          <p:cNvSpPr/>
          <p:nvPr/>
        </p:nvSpPr>
        <p:spPr>
          <a:xfrm>
            <a:off x="812800" y="6238280"/>
            <a:ext cx="22824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Public Sans" pitchFamily="34" charset="0"/>
                <a:ea typeface="Public Sans" pitchFamily="34" charset="-122"/>
                <a:cs typeface="Public Sans" pitchFamily="34" charset="-120"/>
              </a:rPr>
              <a:t>Source: Lab 1 market study</a:t>
            </a:r>
            <a:endParaRPr lang="en-US" sz="1200" dirty="0"/>
          </a:p>
        </p:txBody>
      </p:sp>
      <p:sp>
        <p:nvSpPr>
          <p:cNvPr id="8"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8"/>
                </a:solidFill>
                <a:latin typeface="Public Sans" pitchFamily="34" charset="0"/>
                <a:ea typeface="Public Sans" pitchFamily="34" charset="-122"/>
                <a:cs typeface="Public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04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6F1"/>
                </a:solidFill>
                <a:latin typeface="Rubik" pitchFamily="34" charset="0"/>
                <a:ea typeface="Rubik" pitchFamily="34" charset="-122"/>
                <a:cs typeface="Rubik" pitchFamily="34" charset="-120"/>
              </a:rPr>
              <a:t>Feasibility: three met, two open</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01130"/>
          <a:ext cx="10553700" cy="2387054"/>
        </p:xfrm>
        <a:graphic>
          <a:graphicData uri="http://schemas.openxmlformats.org/drawingml/2006/table">
            <a:tbl>
              <a:tblPr/>
              <a:tblGrid>
                <a:gridCol w="1688592"/>
                <a:gridCol w="5910072"/>
                <a:gridCol w="2955036"/>
              </a:tblGrid>
              <a:tr h="359321">
                <a:tc>
                  <a:txBody>
                    <a:bodyPr/>
                    <a:lstStyle/>
                    <a:p>
                      <a:pPr indent="0" marL="0">
                        <a:lnSpc>
                          <a:spcPts val="1820"/>
                        </a:lnSpc>
                        <a:buNone/>
                      </a:pPr>
                      <a:r>
                        <a:rPr lang="en-US" sz="1300" b="1" dirty="0">
                          <a:solidFill>
                            <a:srgbClr val="F7F6F1"/>
                          </a:solidFill>
                          <a:latin typeface="Public Sans" pitchFamily="34" charset="0"/>
                          <a:ea typeface="Public Sans" pitchFamily="34" charset="-122"/>
                          <a:cs typeface="Public Sans" pitchFamily="34" charset="-120"/>
                        </a:rPr>
                        <a:t>Type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55070"/>
                      </a:solidFill>
                      <a:prstDash val="solid"/>
                      <a:round/>
                      <a:headEnd type="none" w="med" len="med"/>
                      <a:tailEnd type="none" w="med" len="med"/>
                    </a:lnL>
                    <a:lnR w="12700" cap="flat" cmpd="sng" algn="ctr">
                      <a:solidFill>
                        <a:srgbClr val="545D7B"/>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545D7B"/>
                      </a:solidFill>
                      <a:prstDash val="solid"/>
                      <a:round/>
                      <a:headEnd type="none" w="med" len="med"/>
                      <a:tailEnd type="none" w="med" len="med"/>
                    </a:lnB>
                    <a:solidFill>
                      <a:srgbClr val="253158"/>
                    </a:solidFill>
                  </a:tcPr>
                </a:tc>
                <a:tc>
                  <a:txBody>
                    <a:bodyPr/>
                    <a:lstStyle/>
                    <a:p>
                      <a:pPr indent="0" marL="0">
                        <a:lnSpc>
                          <a:spcPts val="1820"/>
                        </a:lnSpc>
                        <a:buNone/>
                      </a:pPr>
                      <a:r>
                        <a:rPr lang="en-US" sz="1300" b="1" dirty="0">
                          <a:solidFill>
                            <a:srgbClr val="F7F6F1"/>
                          </a:solidFill>
                          <a:latin typeface="Public Sans" pitchFamily="34" charset="0"/>
                          <a:ea typeface="Public Sans" pitchFamily="34" charset="-122"/>
                          <a:cs typeface="Public Sans" pitchFamily="34" charset="-120"/>
                        </a:rPr>
                        <a:t>Finding</a:t>
                      </a:r>
                      <a:endParaRPr lang="en-US" sz="1300" dirty="0">
                        <a:latin typeface="Public Sans" charset="0"/>
                        <a:ea typeface="Public Sans" charset="0"/>
                        <a:cs typeface="Public Sans" charset="0"/>
                      </a:endParaRPr>
                    </a:p>
                  </a:txBody>
                  <a:tcPr marL="57785" marR="57785" marT="57785" marB="57785" anchor="t">
                    <a:lnL w="12700" cap="flat" cmpd="sng" algn="ctr">
                      <a:solidFill>
                        <a:srgbClr val="545D7B"/>
                      </a:solidFill>
                      <a:prstDash val="solid"/>
                      <a:round/>
                      <a:headEnd type="none" w="med" len="med"/>
                      <a:tailEnd type="none" w="med" len="med"/>
                    </a:lnL>
                    <a:lnR w="12700" cap="flat" cmpd="sng" algn="ctr">
                      <a:solidFill>
                        <a:srgbClr val="545D7B"/>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545D7B"/>
                      </a:solidFill>
                      <a:prstDash val="solid"/>
                      <a:round/>
                      <a:headEnd type="none" w="med" len="med"/>
                      <a:tailEnd type="none" w="med" len="med"/>
                    </a:lnB>
                    <a:solidFill>
                      <a:srgbClr val="253158"/>
                    </a:solidFill>
                  </a:tcPr>
                </a:tc>
                <a:tc>
                  <a:txBody>
                    <a:bodyPr/>
                    <a:lstStyle/>
                    <a:p>
                      <a:pPr indent="0" marL="0">
                        <a:lnSpc>
                          <a:spcPts val="1820"/>
                        </a:lnSpc>
                        <a:buNone/>
                      </a:pPr>
                      <a:r>
                        <a:rPr lang="en-US" sz="1300" b="1" dirty="0">
                          <a:solidFill>
                            <a:srgbClr val="F7F6F1"/>
                          </a:solidFill>
                          <a:latin typeface="Public Sans" pitchFamily="34" charset="0"/>
                          <a:ea typeface="Public Sans" pitchFamily="34" charset="-122"/>
                          <a:cs typeface="Public Sans" pitchFamily="34" charset="-120"/>
                        </a:rPr>
                        <a:t>Verdict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545D7B"/>
                      </a:solidFill>
                      <a:prstDash val="solid"/>
                      <a:round/>
                      <a:headEnd type="none" w="med" len="med"/>
                      <a:tailEnd type="none" w="med" len="med"/>
                    </a:lnL>
                    <a:lnR w="12700" cap="flat" cmpd="sng" algn="ctr">
                      <a:solidFill>
                        <a:srgbClr val="545D7B"/>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545D7B"/>
                      </a:solidFill>
                      <a:prstDash val="solid"/>
                      <a:round/>
                      <a:headEnd type="none" w="med" len="med"/>
                      <a:tailEnd type="none" w="med" len="med"/>
                    </a:lnB>
                    <a:solidFill>
                      <a:srgbClr val="253158"/>
                    </a:solidFill>
                  </a:tcPr>
                </a:tc>
              </a:tr>
              <a:tr h="590451">
                <a:tc>
                  <a:txBody>
                    <a:bodyPr/>
                    <a:lstStyle/>
                    <a:p>
                      <a:pPr indent="0" marL="0">
                        <a:lnSpc>
                          <a:spcPts val="1820"/>
                        </a:lnSpc>
                        <a:buNone/>
                      </a:pPr>
                      <a:r>
                        <a:rPr lang="en-US" sz="1300" dirty="0">
                          <a:solidFill>
                            <a:srgbClr val="F7F6F1"/>
                          </a:solidFill>
                          <a:latin typeface="Public Sans" pitchFamily="34" charset="0"/>
                          <a:ea typeface="Public Sans" pitchFamily="34" charset="-122"/>
                          <a:cs typeface="Public Sans" pitchFamily="34" charset="-120"/>
                        </a:rPr>
                        <a:t>Technical</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545D7B"/>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820"/>
                        </a:lnSpc>
                        <a:buNone/>
                      </a:pPr>
                      <a:r>
                        <a:rPr lang="en-US" sz="1300" dirty="0">
                          <a:solidFill>
                            <a:srgbClr val="F7F6F1"/>
                          </a:solidFill>
                          <a:latin typeface="Public Sans" pitchFamily="34" charset="0"/>
                          <a:ea typeface="Public Sans" pitchFamily="34" charset="-122"/>
                          <a:cs typeface="Public Sans" pitchFamily="34" charset="-120"/>
                        </a:rPr>
                        <a:t>Standard web technology; harder parts are 1,000 users, 99% availability and two outside services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545D7B"/>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820"/>
                        </a:lnSpc>
                        <a:buNone/>
                      </a:pPr>
                      <a:r>
                        <a:rPr lang="en-US" sz="1300" dirty="0">
                          <a:solidFill>
                            <a:srgbClr val="F7F6F1"/>
                          </a:solidFill>
                          <a:latin typeface="Public Sans" pitchFamily="34" charset="0"/>
                          <a:ea typeface="Public Sans" pitchFamily="34" charset="-122"/>
                          <a:cs typeface="Public Sans" pitchFamily="34" charset="-120"/>
                        </a:rPr>
                        <a:t>Feasible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545D7B"/>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r>
              <a:tr h="359321">
                <a:tc>
                  <a:txBody>
                    <a:bodyPr/>
                    <a:lstStyle/>
                    <a:p>
                      <a:pPr indent="0" marL="0">
                        <a:lnSpc>
                          <a:spcPts val="1820"/>
                        </a:lnSpc>
                        <a:buNone/>
                      </a:pPr>
                      <a:r>
                        <a:rPr lang="en-US" sz="1300" dirty="0">
                          <a:solidFill>
                            <a:srgbClr val="F7F6F1"/>
                          </a:solidFill>
                          <a:latin typeface="Public Sans" pitchFamily="34" charset="0"/>
                          <a:ea typeface="Public Sans" pitchFamily="34" charset="-122"/>
                          <a:cs typeface="Public Sans" pitchFamily="34" charset="-120"/>
                        </a:rPr>
                        <a:t>Operational</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820"/>
                        </a:lnSpc>
                        <a:buNone/>
                      </a:pPr>
                      <a:r>
                        <a:rPr lang="en-US" sz="1300" dirty="0">
                          <a:solidFill>
                            <a:srgbClr val="F7F6F1"/>
                          </a:solidFill>
                          <a:latin typeface="Public Sans" pitchFamily="34" charset="0"/>
                          <a:ea typeface="Public Sans" pitchFamily="34" charset="-122"/>
                          <a:cs typeface="Public Sans" pitchFamily="34" charset="-120"/>
                        </a:rPr>
                        <a:t>Arabic-first phone interface; one IT support person per school</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820"/>
                        </a:lnSpc>
                        <a:buNone/>
                      </a:pPr>
                      <a:r>
                        <a:rPr lang="en-US" sz="1300" dirty="0">
                          <a:solidFill>
                            <a:srgbClr val="F7F6F1"/>
                          </a:solidFill>
                          <a:latin typeface="Public Sans" pitchFamily="34" charset="0"/>
                          <a:ea typeface="Public Sans" pitchFamily="34" charset="-122"/>
                          <a:cs typeface="Public Sans" pitchFamily="34" charset="-120"/>
                        </a:rPr>
                        <a:t>Feasible with training</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r>
              <a:tr h="359321">
                <a:tc>
                  <a:txBody>
                    <a:bodyPr/>
                    <a:lstStyle/>
                    <a:p>
                      <a:pPr indent="0" marL="0">
                        <a:lnSpc>
                          <a:spcPts val="1820"/>
                        </a:lnSpc>
                        <a:buNone/>
                      </a:pPr>
                      <a:r>
                        <a:rPr lang="en-US" sz="1300" dirty="0">
                          <a:solidFill>
                            <a:srgbClr val="F7F6F1"/>
                          </a:solidFill>
                          <a:latin typeface="Public Sans" pitchFamily="34" charset="0"/>
                          <a:ea typeface="Public Sans" pitchFamily="34" charset="-122"/>
                          <a:cs typeface="Public Sans" pitchFamily="34" charset="-120"/>
                        </a:rPr>
                        <a:t>Schedule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820"/>
                        </a:lnSpc>
                        <a:buNone/>
                      </a:pPr>
                      <a:r>
                        <a:rPr lang="en-US" sz="1300" dirty="0">
                          <a:solidFill>
                            <a:srgbClr val="F7F6F1"/>
                          </a:solidFill>
                          <a:latin typeface="Public Sans" pitchFamily="34" charset="0"/>
                          <a:ea typeface="Public Sans" pitchFamily="34" charset="-122"/>
                          <a:cs typeface="Public Sans" pitchFamily="34" charset="-120"/>
                        </a:rPr>
                        <a:t>Analysis done; design, build, test fit the semester plan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820"/>
                        </a:lnSpc>
                        <a:buNone/>
                      </a:pPr>
                      <a:r>
                        <a:rPr lang="en-US" sz="1300" dirty="0">
                          <a:solidFill>
                            <a:srgbClr val="F7F6F1"/>
                          </a:solidFill>
                          <a:latin typeface="Public Sans" pitchFamily="34" charset="0"/>
                          <a:ea typeface="Public Sans" pitchFamily="34" charset="-122"/>
                          <a:cs typeface="Public Sans" pitchFamily="34" charset="-120"/>
                        </a:rPr>
                        <a:t>Feasible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r>
              <a:tr h="359321">
                <a:tc>
                  <a:txBody>
                    <a:bodyPr/>
                    <a:lstStyle/>
                    <a:p>
                      <a:pPr indent="0" marL="0">
                        <a:lnSpc>
                          <a:spcPts val="1820"/>
                        </a:lnSpc>
                        <a:buNone/>
                      </a:pPr>
                      <a:r>
                        <a:rPr lang="en-US" sz="1300" dirty="0">
                          <a:solidFill>
                            <a:srgbClr val="F7F6F1"/>
                          </a:solidFill>
                          <a:latin typeface="Public Sans" pitchFamily="34" charset="0"/>
                          <a:ea typeface="Public Sans" pitchFamily="34" charset="-122"/>
                          <a:cs typeface="Public Sans" pitchFamily="34" charset="-120"/>
                        </a:rPr>
                        <a:t>Economic</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820"/>
                        </a:lnSpc>
                        <a:buNone/>
                      </a:pPr>
                      <a:r>
                        <a:rPr lang="en-US" sz="1300" dirty="0">
                          <a:solidFill>
                            <a:srgbClr val="F7F6F1"/>
                          </a:solidFill>
                          <a:latin typeface="Public Sans" pitchFamily="34" charset="0"/>
                          <a:ea typeface="Public Sans" pitchFamily="34" charset="-122"/>
                          <a:cs typeface="Public Sans" pitchFamily="34" charset="-120"/>
                        </a:rPr>
                        <a:t>Costs and subscription price not yet estimated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820"/>
                        </a:lnSpc>
                        <a:buNone/>
                      </a:pPr>
                      <a:r>
                        <a:rPr lang="en-US" sz="1300" dirty="0">
                          <a:solidFill>
                            <a:srgbClr val="F7F6F1"/>
                          </a:solidFill>
                          <a:latin typeface="Public Sans" pitchFamily="34" charset="0"/>
                          <a:ea typeface="Public Sans" pitchFamily="34" charset="-122"/>
                          <a:cs typeface="Public Sans" pitchFamily="34" charset="-120"/>
                        </a:rPr>
                        <a:t>Open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r>
              <a:tr h="359321">
                <a:tc>
                  <a:txBody>
                    <a:bodyPr/>
                    <a:lstStyle/>
                    <a:p>
                      <a:pPr indent="0" marL="0">
                        <a:lnSpc>
                          <a:spcPts val="1820"/>
                        </a:lnSpc>
                        <a:buNone/>
                      </a:pPr>
                      <a:r>
                        <a:rPr lang="en-US" sz="1300" dirty="0">
                          <a:solidFill>
                            <a:srgbClr val="F7F6F1"/>
                          </a:solidFill>
                          <a:latin typeface="Public Sans" pitchFamily="34" charset="0"/>
                          <a:ea typeface="Public Sans" pitchFamily="34" charset="-122"/>
                          <a:cs typeface="Public Sans" pitchFamily="34" charset="-120"/>
                        </a:rPr>
                        <a:t>Legal and data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820"/>
                        </a:lnSpc>
                        <a:buNone/>
                      </a:pPr>
                      <a:r>
                        <a:rPr lang="en-US" sz="1300" dirty="0">
                          <a:solidFill>
                            <a:srgbClr val="F7F6F1"/>
                          </a:solidFill>
                          <a:latin typeface="Public Sans" pitchFamily="34" charset="0"/>
                          <a:ea typeface="Public Sans" pitchFamily="34" charset="-122"/>
                          <a:cs typeface="Public Sans" pitchFamily="34" charset="-120"/>
                        </a:rPr>
                        <a:t>Children's data; privacy rules to check with the supervisor</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820"/>
                        </a:lnSpc>
                        <a:buNone/>
                      </a:pPr>
                      <a:r>
                        <a:rPr lang="en-US" sz="1300" dirty="0">
                          <a:solidFill>
                            <a:srgbClr val="F7F6F1"/>
                          </a:solidFill>
                          <a:latin typeface="Public Sans" pitchFamily="34" charset="0"/>
                          <a:ea typeface="Public Sans" pitchFamily="34" charset="-122"/>
                          <a:cs typeface="Public Sans" pitchFamily="34" charset="-120"/>
                        </a:rPr>
                        <a:t>Open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r>
            </a:tbl>
          </a:graphicData>
        </a:graphic>
      </p:graphicFrame>
      <p:sp>
        <p:nvSpPr>
          <p:cNvPr id="4" name="Text 1"/>
          <p:cNvSpPr/>
          <p:nvPr/>
        </p:nvSpPr>
        <p:spPr>
          <a:xfrm>
            <a:off x="812800" y="4116784"/>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A"/>
                </a:solidFill>
                <a:latin typeface="Public Sans" pitchFamily="34" charset="0"/>
                <a:ea typeface="Public Sans" pitchFamily="34" charset="-122"/>
                <a:cs typeface="Public Sans" pitchFamily="34" charset="-120"/>
              </a:rPr>
              <a:t>Next: fill in development cost, monthly hosting and price per school [SAR __].</a:t>
            </a:r>
            <a:endParaRPr lang="en-US" sz="1400" dirty="0"/>
          </a:p>
        </p:txBody>
      </p:sp>
      <p:sp>
        <p:nvSpPr>
          <p:cNvPr id="5" name="Text 2"/>
          <p:cNvSpPr/>
          <p:nvPr/>
        </p:nvSpPr>
        <p:spPr>
          <a:xfrm>
            <a:off x="812800" y="6238280"/>
            <a:ext cx="20238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D6"/>
                </a:solidFill>
                <a:latin typeface="Public Sans" pitchFamily="34" charset="0"/>
                <a:ea typeface="Public Sans" pitchFamily="34" charset="-122"/>
                <a:cs typeface="Public Sans" pitchFamily="34" charset="-120"/>
              </a:rPr>
              <a:t>Source: SRS section 2.4</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6D6"/>
                </a:solidFill>
                <a:latin typeface="Public Sans" pitchFamily="34" charset="0"/>
                <a:ea typeface="Public Sans" pitchFamily="34" charset="-122"/>
                <a:cs typeface="Public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4A"/>
                </a:solidFill>
                <a:latin typeface="Rubik" pitchFamily="34" charset="0"/>
                <a:ea typeface="Rubik" pitchFamily="34" charset="-122"/>
                <a:cs typeface="Rubik" pitchFamily="34" charset="-120"/>
              </a:rPr>
              <a:t>Business Model Canvas</a:t>
            </a:r>
            <a:endParaRPr lang="en-US" sz="3200" dirty="0"/>
          </a:p>
        </p:txBody>
      </p:sp>
      <p:sp>
        <p:nvSpPr>
          <p:cNvPr id="3" name="Shape 1"/>
          <p:cNvSpPr/>
          <p:nvPr/>
        </p:nvSpPr>
        <p:spPr>
          <a:xfrm>
            <a:off x="815975" y="1415405"/>
            <a:ext cx="2364284" cy="1106041"/>
          </a:xfrm>
          <a:prstGeom prst="roundRect">
            <a:avLst>
              <a:gd name="adj" fmla="val 6602"/>
            </a:avLst>
          </a:prstGeom>
          <a:solidFill>
            <a:srgbClr val="FFFEFA"/>
          </a:solidFill>
          <a:ln w="6350">
            <a:solidFill>
              <a:srgbClr val="DCDFE6"/>
            </a:solidFill>
            <a:prstDash val="solid"/>
          </a:ln>
        </p:spPr>
      </p:sp>
      <p:sp>
        <p:nvSpPr>
          <p:cNvPr id="4" name="Text 2"/>
          <p:cNvSpPr/>
          <p:nvPr/>
        </p:nvSpPr>
        <p:spPr>
          <a:xfrm>
            <a:off x="946150" y="1545580"/>
            <a:ext cx="216705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7C98"/>
                </a:solidFill>
                <a:latin typeface="Public Sans" pitchFamily="34" charset="0"/>
                <a:ea typeface="Public Sans" pitchFamily="34" charset="-122"/>
                <a:cs typeface="Public Sans" pitchFamily="34" charset="-120"/>
              </a:rPr>
              <a:t>Key partners</a:t>
            </a:r>
            <a:endParaRPr lang="en-US" sz="1200" dirty="0"/>
          </a:p>
        </p:txBody>
      </p:sp>
      <p:sp>
        <p:nvSpPr>
          <p:cNvPr id="5" name="Text 3"/>
          <p:cNvSpPr/>
          <p:nvPr/>
        </p:nvSpPr>
        <p:spPr>
          <a:xfrm>
            <a:off x="946150" y="1797000"/>
            <a:ext cx="2167052"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2204A"/>
                </a:solidFill>
                <a:latin typeface="Public Sans" pitchFamily="34" charset="0"/>
                <a:ea typeface="Public Sans" pitchFamily="34" charset="-122"/>
                <a:cs typeface="Public Sans" pitchFamily="34" charset="-120"/>
              </a:rPr>
              <a:t>Payment gateway; push and SMS provider; hosting; pilot schools</a:t>
            </a:r>
            <a:endParaRPr lang="en-US" sz="1200" dirty="0"/>
          </a:p>
        </p:txBody>
      </p:sp>
      <p:sp>
        <p:nvSpPr>
          <p:cNvPr id="6" name="Shape 4"/>
          <p:cNvSpPr/>
          <p:nvPr/>
        </p:nvSpPr>
        <p:spPr>
          <a:xfrm>
            <a:off x="815975" y="2629396"/>
            <a:ext cx="2364284" cy="907951"/>
          </a:xfrm>
          <a:prstGeom prst="roundRect">
            <a:avLst>
              <a:gd name="adj" fmla="val 8043"/>
            </a:avLst>
          </a:prstGeom>
          <a:solidFill>
            <a:srgbClr val="FFFEFA"/>
          </a:solidFill>
          <a:ln w="6350">
            <a:solidFill>
              <a:srgbClr val="DCDFE6"/>
            </a:solidFill>
            <a:prstDash val="solid"/>
          </a:ln>
        </p:spPr>
      </p:sp>
      <p:sp>
        <p:nvSpPr>
          <p:cNvPr id="7" name="Text 5"/>
          <p:cNvSpPr/>
          <p:nvPr/>
        </p:nvSpPr>
        <p:spPr>
          <a:xfrm>
            <a:off x="946150" y="2759571"/>
            <a:ext cx="216705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7C98"/>
                </a:solidFill>
                <a:latin typeface="Public Sans" pitchFamily="34" charset="0"/>
                <a:ea typeface="Public Sans" pitchFamily="34" charset="-122"/>
                <a:cs typeface="Public Sans" pitchFamily="34" charset="-120"/>
              </a:rPr>
              <a:t>Key activities</a:t>
            </a:r>
            <a:endParaRPr lang="en-US" sz="1200" dirty="0"/>
          </a:p>
        </p:txBody>
      </p:sp>
      <p:sp>
        <p:nvSpPr>
          <p:cNvPr id="8" name="Text 6"/>
          <p:cNvSpPr/>
          <p:nvPr/>
        </p:nvSpPr>
        <p:spPr>
          <a:xfrm>
            <a:off x="946150" y="3010991"/>
            <a:ext cx="216705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2204A"/>
                </a:solidFill>
                <a:latin typeface="Public Sans" pitchFamily="34" charset="0"/>
                <a:ea typeface="Public Sans" pitchFamily="34" charset="-122"/>
                <a:cs typeface="Public Sans" pitchFamily="34" charset="-120"/>
              </a:rPr>
              <a:t>Build, back up, secure, onboard schools</a:t>
            </a:r>
            <a:endParaRPr lang="en-US" sz="1200" dirty="0"/>
          </a:p>
        </p:txBody>
      </p:sp>
      <p:sp>
        <p:nvSpPr>
          <p:cNvPr id="9" name="Shape 7"/>
          <p:cNvSpPr/>
          <p:nvPr/>
        </p:nvSpPr>
        <p:spPr>
          <a:xfrm>
            <a:off x="3288209" y="1415405"/>
            <a:ext cx="2364333" cy="907951"/>
          </a:xfrm>
          <a:prstGeom prst="roundRect">
            <a:avLst>
              <a:gd name="adj" fmla="val 8043"/>
            </a:avLst>
          </a:prstGeom>
          <a:solidFill>
            <a:srgbClr val="FFFEFA"/>
          </a:solidFill>
          <a:ln w="6350">
            <a:solidFill>
              <a:srgbClr val="DCDFE6"/>
            </a:solidFill>
            <a:prstDash val="solid"/>
          </a:ln>
        </p:spPr>
      </p:sp>
      <p:sp>
        <p:nvSpPr>
          <p:cNvPr id="10" name="Text 8"/>
          <p:cNvSpPr/>
          <p:nvPr/>
        </p:nvSpPr>
        <p:spPr>
          <a:xfrm>
            <a:off x="3418384" y="1545580"/>
            <a:ext cx="216710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7C98"/>
                </a:solidFill>
                <a:latin typeface="Public Sans" pitchFamily="34" charset="0"/>
                <a:ea typeface="Public Sans" pitchFamily="34" charset="-122"/>
                <a:cs typeface="Public Sans" pitchFamily="34" charset="-120"/>
              </a:rPr>
              <a:t>Key resources</a:t>
            </a:r>
            <a:endParaRPr lang="en-US" sz="1200" dirty="0"/>
          </a:p>
        </p:txBody>
      </p:sp>
      <p:sp>
        <p:nvSpPr>
          <p:cNvPr id="11" name="Text 9"/>
          <p:cNvSpPr/>
          <p:nvPr/>
        </p:nvSpPr>
        <p:spPr>
          <a:xfrm>
            <a:off x="3418384" y="1797000"/>
            <a:ext cx="216710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2204A"/>
                </a:solidFill>
                <a:latin typeface="Public Sans" pitchFamily="34" charset="0"/>
                <a:ea typeface="Public Sans" pitchFamily="34" charset="-122"/>
                <a:cs typeface="Public Sans" pitchFamily="34" charset="-120"/>
              </a:rPr>
              <a:t>Dev team; cloud hosting; gateway account</a:t>
            </a:r>
            <a:endParaRPr lang="en-US" sz="1200" dirty="0"/>
          </a:p>
        </p:txBody>
      </p:sp>
      <p:sp>
        <p:nvSpPr>
          <p:cNvPr id="12" name="Shape 10"/>
          <p:cNvSpPr/>
          <p:nvPr/>
        </p:nvSpPr>
        <p:spPr>
          <a:xfrm>
            <a:off x="3288209" y="2431306"/>
            <a:ext cx="2364333" cy="907951"/>
          </a:xfrm>
          <a:prstGeom prst="roundRect">
            <a:avLst>
              <a:gd name="adj" fmla="val 8043"/>
            </a:avLst>
          </a:prstGeom>
          <a:solidFill>
            <a:srgbClr val="FFFEFA"/>
          </a:solidFill>
          <a:ln w="6350">
            <a:solidFill>
              <a:srgbClr val="DCDFE6"/>
            </a:solidFill>
            <a:prstDash val="solid"/>
          </a:ln>
        </p:spPr>
      </p:sp>
      <p:sp>
        <p:nvSpPr>
          <p:cNvPr id="13" name="Text 11"/>
          <p:cNvSpPr/>
          <p:nvPr/>
        </p:nvSpPr>
        <p:spPr>
          <a:xfrm>
            <a:off x="3418384" y="2561481"/>
            <a:ext cx="216710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7C98"/>
                </a:solidFill>
                <a:latin typeface="Public Sans" pitchFamily="34" charset="0"/>
                <a:ea typeface="Public Sans" pitchFamily="34" charset="-122"/>
                <a:cs typeface="Public Sans" pitchFamily="34" charset="-120"/>
              </a:rPr>
              <a:t>Relationships</a:t>
            </a:r>
            <a:endParaRPr lang="en-US" sz="1200" dirty="0"/>
          </a:p>
        </p:txBody>
      </p:sp>
      <p:sp>
        <p:nvSpPr>
          <p:cNvPr id="14" name="Text 12"/>
          <p:cNvSpPr/>
          <p:nvPr/>
        </p:nvSpPr>
        <p:spPr>
          <a:xfrm>
            <a:off x="3418384" y="2812901"/>
            <a:ext cx="216710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2204A"/>
                </a:solidFill>
                <a:latin typeface="Public Sans" pitchFamily="34" charset="0"/>
                <a:ea typeface="Public Sans" pitchFamily="34" charset="-122"/>
                <a:cs typeface="Public Sans" pitchFamily="34" charset="-120"/>
              </a:rPr>
              <a:t>Self-service; in-app messages; staff training</a:t>
            </a:r>
            <a:endParaRPr lang="en-US" sz="1200" dirty="0"/>
          </a:p>
        </p:txBody>
      </p:sp>
      <p:sp>
        <p:nvSpPr>
          <p:cNvPr id="15" name="Shape 13"/>
          <p:cNvSpPr/>
          <p:nvPr/>
        </p:nvSpPr>
        <p:spPr>
          <a:xfrm>
            <a:off x="5757317" y="1412230"/>
            <a:ext cx="3149600" cy="2128292"/>
          </a:xfrm>
          <a:prstGeom prst="roundRect">
            <a:avLst>
              <a:gd name="adj" fmla="val 3580"/>
            </a:avLst>
          </a:prstGeom>
          <a:solidFill>
            <a:srgbClr val="12204A"/>
          </a:solidFill>
          <a:ln/>
        </p:spPr>
      </p:sp>
      <p:sp>
        <p:nvSpPr>
          <p:cNvPr id="16" name="Text 14"/>
          <p:cNvSpPr/>
          <p:nvPr/>
        </p:nvSpPr>
        <p:spPr>
          <a:xfrm>
            <a:off x="5909717" y="1564630"/>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B544"/>
                </a:solidFill>
                <a:latin typeface="Public Sans" pitchFamily="34" charset="0"/>
                <a:ea typeface="Public Sans" pitchFamily="34" charset="-122"/>
                <a:cs typeface="Public Sans" pitchFamily="34" charset="-120"/>
              </a:rPr>
              <a:t>Value propositions</a:t>
            </a:r>
            <a:endParaRPr lang="en-US" sz="1200" dirty="0"/>
          </a:p>
        </p:txBody>
      </p:sp>
      <p:sp>
        <p:nvSpPr>
          <p:cNvPr id="17" name="Text 15"/>
          <p:cNvSpPr/>
          <p:nvPr/>
        </p:nvSpPr>
        <p:spPr>
          <a:xfrm>
            <a:off x="5909717" y="1841450"/>
            <a:ext cx="293014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1"/>
                </a:solidFill>
                <a:latin typeface="Public Sans" pitchFamily="34" charset="0"/>
                <a:ea typeface="Public Sans" pitchFamily="34" charset="-122"/>
                <a:cs typeface="Public Sans" pitchFamily="34" charset="-120"/>
              </a:rPr>
              <a:t>One platform for every role. Reliable alerts. Arabic-first. Online fee payment. Early warning. Security by default.</a:t>
            </a:r>
            <a:endParaRPr lang="en-US" sz="1200" dirty="0"/>
          </a:p>
        </p:txBody>
      </p:sp>
      <p:sp>
        <p:nvSpPr>
          <p:cNvPr id="18" name="Shape 16"/>
          <p:cNvSpPr/>
          <p:nvPr/>
        </p:nvSpPr>
        <p:spPr>
          <a:xfrm>
            <a:off x="9011692" y="1415405"/>
            <a:ext cx="2364333" cy="907951"/>
          </a:xfrm>
          <a:prstGeom prst="roundRect">
            <a:avLst>
              <a:gd name="adj" fmla="val 8043"/>
            </a:avLst>
          </a:prstGeom>
          <a:solidFill>
            <a:srgbClr val="FFFEFA"/>
          </a:solidFill>
          <a:ln w="6350">
            <a:solidFill>
              <a:srgbClr val="DCDFE6"/>
            </a:solidFill>
            <a:prstDash val="solid"/>
          </a:ln>
        </p:spPr>
      </p:sp>
      <p:sp>
        <p:nvSpPr>
          <p:cNvPr id="19" name="Text 17"/>
          <p:cNvSpPr/>
          <p:nvPr/>
        </p:nvSpPr>
        <p:spPr>
          <a:xfrm>
            <a:off x="9141867" y="1545580"/>
            <a:ext cx="216710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7C98"/>
                </a:solidFill>
                <a:latin typeface="Public Sans" pitchFamily="34" charset="0"/>
                <a:ea typeface="Public Sans" pitchFamily="34" charset="-122"/>
                <a:cs typeface="Public Sans" pitchFamily="34" charset="-120"/>
              </a:rPr>
              <a:t>Channels</a:t>
            </a:r>
            <a:endParaRPr lang="en-US" sz="1200" dirty="0"/>
          </a:p>
        </p:txBody>
      </p:sp>
      <p:sp>
        <p:nvSpPr>
          <p:cNvPr id="20" name="Text 18"/>
          <p:cNvSpPr/>
          <p:nvPr/>
        </p:nvSpPr>
        <p:spPr>
          <a:xfrm>
            <a:off x="9141867" y="1797000"/>
            <a:ext cx="216710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2204A"/>
                </a:solidFill>
                <a:latin typeface="Public Sans" pitchFamily="34" charset="0"/>
                <a:ea typeface="Public Sans" pitchFamily="34" charset="-122"/>
                <a:cs typeface="Public Sans" pitchFamily="34" charset="-120"/>
              </a:rPr>
              <a:t>Web and mobile; push and SMS</a:t>
            </a:r>
            <a:endParaRPr lang="en-US" sz="1200" dirty="0"/>
          </a:p>
        </p:txBody>
      </p:sp>
      <p:sp>
        <p:nvSpPr>
          <p:cNvPr id="21" name="Shape 19"/>
          <p:cNvSpPr/>
          <p:nvPr/>
        </p:nvSpPr>
        <p:spPr>
          <a:xfrm>
            <a:off x="9011692" y="2431306"/>
            <a:ext cx="2364333" cy="907951"/>
          </a:xfrm>
          <a:prstGeom prst="roundRect">
            <a:avLst>
              <a:gd name="adj" fmla="val 8043"/>
            </a:avLst>
          </a:prstGeom>
          <a:solidFill>
            <a:srgbClr val="FFFEFA"/>
          </a:solidFill>
          <a:ln w="6350">
            <a:solidFill>
              <a:srgbClr val="DCDFE6"/>
            </a:solidFill>
            <a:prstDash val="solid"/>
          </a:ln>
        </p:spPr>
      </p:sp>
      <p:sp>
        <p:nvSpPr>
          <p:cNvPr id="22" name="Text 20"/>
          <p:cNvSpPr/>
          <p:nvPr/>
        </p:nvSpPr>
        <p:spPr>
          <a:xfrm>
            <a:off x="9141867" y="2561481"/>
            <a:ext cx="216710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7C98"/>
                </a:solidFill>
                <a:latin typeface="Public Sans" pitchFamily="34" charset="0"/>
                <a:ea typeface="Public Sans" pitchFamily="34" charset="-122"/>
                <a:cs typeface="Public Sans" pitchFamily="34" charset="-120"/>
              </a:rPr>
              <a:t>Segments</a:t>
            </a:r>
            <a:endParaRPr lang="en-US" sz="1200" dirty="0"/>
          </a:p>
        </p:txBody>
      </p:sp>
      <p:sp>
        <p:nvSpPr>
          <p:cNvPr id="23" name="Text 21"/>
          <p:cNvSpPr/>
          <p:nvPr/>
        </p:nvSpPr>
        <p:spPr>
          <a:xfrm>
            <a:off x="9141867" y="2812901"/>
            <a:ext cx="216710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2204A"/>
                </a:solidFill>
                <a:latin typeface="Public Sans" pitchFamily="34" charset="0"/>
                <a:ea typeface="Public Sans" pitchFamily="34" charset="-122"/>
                <a:cs typeface="Public Sans" pitchFamily="34" charset="-120"/>
              </a:rPr>
              <a:t>Saudi K-12 schools and their six user groups</a:t>
            </a:r>
            <a:endParaRPr lang="en-US" sz="1200" dirty="0"/>
          </a:p>
        </p:txBody>
      </p:sp>
      <p:sp>
        <p:nvSpPr>
          <p:cNvPr id="24" name="Shape 22"/>
          <p:cNvSpPr/>
          <p:nvPr/>
        </p:nvSpPr>
        <p:spPr>
          <a:xfrm>
            <a:off x="819150" y="3699272"/>
            <a:ext cx="5219700" cy="716211"/>
          </a:xfrm>
          <a:prstGeom prst="roundRect">
            <a:avLst>
              <a:gd name="adj" fmla="val 9753"/>
            </a:avLst>
          </a:prstGeom>
          <a:solidFill>
            <a:srgbClr val="FFFEFA"/>
          </a:solidFill>
          <a:ln w="12700">
            <a:solidFill>
              <a:srgbClr val="B87A12"/>
            </a:solidFill>
            <a:prstDash val="dash"/>
          </a:ln>
        </p:spPr>
      </p:sp>
      <p:sp>
        <p:nvSpPr>
          <p:cNvPr id="25" name="Text 23"/>
          <p:cNvSpPr/>
          <p:nvPr/>
        </p:nvSpPr>
        <p:spPr>
          <a:xfrm>
            <a:off x="952500" y="3832622"/>
            <a:ext cx="51015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04A"/>
                </a:solidFill>
                <a:latin typeface="Public Sans" pitchFamily="34" charset="0"/>
                <a:ea typeface="Public Sans" pitchFamily="34" charset="-122"/>
                <a:cs typeface="Public Sans" pitchFamily="34" charset="-120"/>
              </a:rPr>
              <a:t>Cost structure (open)</a:t>
            </a:r>
            <a:endParaRPr lang="en-US" sz="1200" dirty="0"/>
          </a:p>
        </p:txBody>
      </p:sp>
      <p:sp>
        <p:nvSpPr>
          <p:cNvPr id="26" name="Text 24"/>
          <p:cNvSpPr/>
          <p:nvPr/>
        </p:nvSpPr>
        <p:spPr>
          <a:xfrm>
            <a:off x="952500" y="4084042"/>
            <a:ext cx="510159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2204A"/>
                </a:solidFill>
                <a:latin typeface="Public Sans" pitchFamily="34" charset="0"/>
                <a:ea typeface="Public Sans" pitchFamily="34" charset="-122"/>
                <a:cs typeface="Public Sans" pitchFamily="34" charset="-120"/>
              </a:rPr>
              <a:t>Development, hosting, gateway fees, SMS, support [SAR __]</a:t>
            </a:r>
            <a:endParaRPr lang="en-US" sz="1200" dirty="0"/>
          </a:p>
        </p:txBody>
      </p:sp>
      <p:sp>
        <p:nvSpPr>
          <p:cNvPr id="27" name="Shape 25"/>
          <p:cNvSpPr/>
          <p:nvPr/>
        </p:nvSpPr>
        <p:spPr>
          <a:xfrm>
            <a:off x="6153150" y="3699272"/>
            <a:ext cx="5219700" cy="716211"/>
          </a:xfrm>
          <a:prstGeom prst="roundRect">
            <a:avLst>
              <a:gd name="adj" fmla="val 9753"/>
            </a:avLst>
          </a:prstGeom>
          <a:solidFill>
            <a:srgbClr val="FFFEFA"/>
          </a:solidFill>
          <a:ln w="12700">
            <a:solidFill>
              <a:srgbClr val="B87A12"/>
            </a:solidFill>
            <a:prstDash val="dash"/>
          </a:ln>
        </p:spPr>
      </p:sp>
      <p:sp>
        <p:nvSpPr>
          <p:cNvPr id="28" name="Text 26"/>
          <p:cNvSpPr/>
          <p:nvPr/>
        </p:nvSpPr>
        <p:spPr>
          <a:xfrm>
            <a:off x="6286500" y="3832622"/>
            <a:ext cx="51015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04A"/>
                </a:solidFill>
                <a:latin typeface="Public Sans" pitchFamily="34" charset="0"/>
                <a:ea typeface="Public Sans" pitchFamily="34" charset="-122"/>
                <a:cs typeface="Public Sans" pitchFamily="34" charset="-120"/>
              </a:rPr>
              <a:t>Revenue streams (open)</a:t>
            </a:r>
            <a:endParaRPr lang="en-US" sz="1200" dirty="0"/>
          </a:p>
        </p:txBody>
      </p:sp>
      <p:sp>
        <p:nvSpPr>
          <p:cNvPr id="29" name="Text 27"/>
          <p:cNvSpPr/>
          <p:nvPr/>
        </p:nvSpPr>
        <p:spPr>
          <a:xfrm>
            <a:off x="6286500" y="4084042"/>
            <a:ext cx="510159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2204A"/>
                </a:solidFill>
                <a:latin typeface="Public Sans" pitchFamily="34" charset="0"/>
                <a:ea typeface="Public Sans" pitchFamily="34" charset="-122"/>
                <a:cs typeface="Public Sans" pitchFamily="34" charset="-120"/>
              </a:rPr>
              <a:t>Per-school subscription [price, SAR __]</a:t>
            </a:r>
            <a:endParaRPr lang="en-US" sz="1200" dirty="0"/>
          </a:p>
        </p:txBody>
      </p:sp>
      <p:sp>
        <p:nvSpPr>
          <p:cNvPr id="30" name="Text 28"/>
          <p:cNvSpPr/>
          <p:nvPr/>
        </p:nvSpPr>
        <p:spPr>
          <a:xfrm>
            <a:off x="812800" y="6238280"/>
            <a:ext cx="42845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Public Sans" pitchFamily="34" charset="0"/>
                <a:ea typeface="Public Sans" pitchFamily="34" charset="-122"/>
                <a:cs typeface="Public Sans" pitchFamily="34" charset="-120"/>
              </a:rPr>
              <a:t>Dashed boxes are still open. Source: SRS section 3</a:t>
            </a:r>
            <a:endParaRPr lang="en-US" sz="1200" dirty="0"/>
          </a:p>
        </p:txBody>
      </p:sp>
      <p:sp>
        <p:nvSpPr>
          <p:cNvPr id="31" name="Text 2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8"/>
                </a:solidFill>
                <a:latin typeface="Public Sans" pitchFamily="34" charset="0"/>
                <a:ea typeface="Public Sans" pitchFamily="34" charset="-122"/>
                <a:cs typeface="Public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204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6F1"/>
                </a:solidFill>
                <a:latin typeface="Rubik" pitchFamily="34" charset="0"/>
                <a:ea typeface="Rubik" pitchFamily="34" charset="-122"/>
                <a:cs typeface="Rubik" pitchFamily="34" charset="-120"/>
              </a:rPr>
              <a:t>SDGs and Saudi Vision 2030</a:t>
            </a:r>
            <a:endParaRPr lang="en-US" sz="3200" dirty="0"/>
          </a:p>
        </p:txBody>
      </p:sp>
      <p:sp>
        <p:nvSpPr>
          <p:cNvPr id="3" name="Shape 1"/>
          <p:cNvSpPr/>
          <p:nvPr/>
        </p:nvSpPr>
        <p:spPr>
          <a:xfrm>
            <a:off x="812800" y="1463030"/>
            <a:ext cx="3420517" cy="1869331"/>
          </a:xfrm>
          <a:prstGeom prst="roundRect">
            <a:avLst>
              <a:gd name="adj" fmla="val 5435"/>
            </a:avLst>
          </a:prstGeom>
          <a:solidFill>
            <a:srgbClr val="1B2D63"/>
          </a:solidFill>
          <a:ln/>
        </p:spPr>
      </p:sp>
      <p:sp>
        <p:nvSpPr>
          <p:cNvPr id="4" name="Text 2"/>
          <p:cNvSpPr/>
          <p:nvPr/>
        </p:nvSpPr>
        <p:spPr>
          <a:xfrm>
            <a:off x="990600" y="1640830"/>
            <a:ext cx="3156864"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2B544"/>
                </a:solidFill>
                <a:latin typeface="Rubik" pitchFamily="34" charset="0"/>
                <a:ea typeface="Rubik" pitchFamily="34" charset="-122"/>
                <a:cs typeface="Rubik" pitchFamily="34" charset="-120"/>
              </a:rPr>
              <a:t>4</a:t>
            </a:r>
            <a:endParaRPr lang="en-US" sz="3600" dirty="0"/>
          </a:p>
        </p:txBody>
      </p:sp>
      <p:sp>
        <p:nvSpPr>
          <p:cNvPr id="5" name="Text 3"/>
          <p:cNvSpPr/>
          <p:nvPr/>
        </p:nvSpPr>
        <p:spPr>
          <a:xfrm>
            <a:off x="990600" y="2207220"/>
            <a:ext cx="31568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7F6F1"/>
                </a:solidFill>
                <a:latin typeface="Public Sans" pitchFamily="34" charset="0"/>
                <a:ea typeface="Public Sans" pitchFamily="34" charset="-122"/>
                <a:cs typeface="Public Sans" pitchFamily="34" charset="-120"/>
              </a:rPr>
              <a:t>Quality Education</a:t>
            </a:r>
            <a:endParaRPr lang="en-US" sz="1500" dirty="0"/>
          </a:p>
        </p:txBody>
      </p:sp>
      <p:sp>
        <p:nvSpPr>
          <p:cNvPr id="6" name="Text 4"/>
          <p:cNvSpPr/>
          <p:nvPr/>
        </p:nvSpPr>
        <p:spPr>
          <a:xfrm>
            <a:off x="990600" y="2499320"/>
            <a:ext cx="315686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5"/>
                </a:solidFill>
                <a:latin typeface="Public Sans" pitchFamily="34" charset="0"/>
                <a:ea typeface="Public Sans" pitchFamily="34" charset="-122"/>
                <a:cs typeface="Public Sans" pitchFamily="34" charset="-120"/>
              </a:rPr>
              <a:t>Early alerts for struggling students (REQ-12); parents see progress live (REQ-19).</a:t>
            </a:r>
            <a:endParaRPr lang="en-US" sz="1200" dirty="0"/>
          </a:p>
        </p:txBody>
      </p:sp>
      <p:sp>
        <p:nvSpPr>
          <p:cNvPr id="7" name="Shape 5"/>
          <p:cNvSpPr/>
          <p:nvPr/>
        </p:nvSpPr>
        <p:spPr>
          <a:xfrm>
            <a:off x="4385717" y="1463030"/>
            <a:ext cx="3420566" cy="1869331"/>
          </a:xfrm>
          <a:prstGeom prst="roundRect">
            <a:avLst>
              <a:gd name="adj" fmla="val 5435"/>
            </a:avLst>
          </a:prstGeom>
          <a:solidFill>
            <a:srgbClr val="1B2D63"/>
          </a:solidFill>
          <a:ln/>
        </p:spPr>
      </p:sp>
      <p:sp>
        <p:nvSpPr>
          <p:cNvPr id="8" name="Text 6"/>
          <p:cNvSpPr/>
          <p:nvPr/>
        </p:nvSpPr>
        <p:spPr>
          <a:xfrm>
            <a:off x="4563517" y="1640830"/>
            <a:ext cx="3156915"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2B544"/>
                </a:solidFill>
                <a:latin typeface="Rubik" pitchFamily="34" charset="0"/>
                <a:ea typeface="Rubik" pitchFamily="34" charset="-122"/>
                <a:cs typeface="Rubik" pitchFamily="34" charset="-120"/>
              </a:rPr>
              <a:t>9</a:t>
            </a:r>
            <a:endParaRPr lang="en-US" sz="3600" dirty="0"/>
          </a:p>
        </p:txBody>
      </p:sp>
      <p:sp>
        <p:nvSpPr>
          <p:cNvPr id="9" name="Text 7"/>
          <p:cNvSpPr/>
          <p:nvPr/>
        </p:nvSpPr>
        <p:spPr>
          <a:xfrm>
            <a:off x="4563517" y="2207220"/>
            <a:ext cx="3156915"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7F6F1"/>
                </a:solidFill>
                <a:latin typeface="Public Sans" pitchFamily="34" charset="0"/>
                <a:ea typeface="Public Sans" pitchFamily="34" charset="-122"/>
                <a:cs typeface="Public Sans" pitchFamily="34" charset="-120"/>
              </a:rPr>
              <a:t>Industry, Innovation and Infrastructure</a:t>
            </a:r>
            <a:endParaRPr lang="en-US" sz="1500" dirty="0"/>
          </a:p>
        </p:txBody>
      </p:sp>
      <p:sp>
        <p:nvSpPr>
          <p:cNvPr id="10" name="Text 8"/>
          <p:cNvSpPr/>
          <p:nvPr/>
        </p:nvSpPr>
        <p:spPr>
          <a:xfrm>
            <a:off x="4563517" y="2727920"/>
            <a:ext cx="315691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5"/>
                </a:solidFill>
                <a:latin typeface="Public Sans" pitchFamily="34" charset="0"/>
                <a:ea typeface="Public Sans" pitchFamily="34" charset="-122"/>
                <a:cs typeface="Public Sans" pitchFamily="34" charset="-120"/>
              </a:rPr>
              <a:t>Digital school infrastructure that replaces paper, built for 1,000 users (REQ-30).</a:t>
            </a:r>
            <a:endParaRPr lang="en-US" sz="1200" dirty="0"/>
          </a:p>
        </p:txBody>
      </p:sp>
      <p:sp>
        <p:nvSpPr>
          <p:cNvPr id="11" name="Shape 9"/>
          <p:cNvSpPr/>
          <p:nvPr/>
        </p:nvSpPr>
        <p:spPr>
          <a:xfrm>
            <a:off x="7958683" y="1463030"/>
            <a:ext cx="3420517" cy="1869331"/>
          </a:xfrm>
          <a:prstGeom prst="roundRect">
            <a:avLst>
              <a:gd name="adj" fmla="val 5435"/>
            </a:avLst>
          </a:prstGeom>
          <a:solidFill>
            <a:srgbClr val="1B2D63"/>
          </a:solidFill>
          <a:ln/>
        </p:spPr>
      </p:sp>
      <p:sp>
        <p:nvSpPr>
          <p:cNvPr id="12" name="Text 10"/>
          <p:cNvSpPr/>
          <p:nvPr/>
        </p:nvSpPr>
        <p:spPr>
          <a:xfrm>
            <a:off x="8136483" y="1640830"/>
            <a:ext cx="3156864"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2B544"/>
                </a:solidFill>
                <a:latin typeface="Rubik" pitchFamily="34" charset="0"/>
                <a:ea typeface="Rubik" pitchFamily="34" charset="-122"/>
                <a:cs typeface="Rubik" pitchFamily="34" charset="-120"/>
              </a:rPr>
              <a:t>16</a:t>
            </a:r>
            <a:endParaRPr lang="en-US" sz="3600" dirty="0"/>
          </a:p>
        </p:txBody>
      </p:sp>
      <p:sp>
        <p:nvSpPr>
          <p:cNvPr id="13" name="Text 11"/>
          <p:cNvSpPr/>
          <p:nvPr/>
        </p:nvSpPr>
        <p:spPr>
          <a:xfrm>
            <a:off x="8136483" y="2207220"/>
            <a:ext cx="3156864"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7F6F1"/>
                </a:solidFill>
                <a:latin typeface="Public Sans" pitchFamily="34" charset="0"/>
                <a:ea typeface="Public Sans" pitchFamily="34" charset="-122"/>
                <a:cs typeface="Public Sans" pitchFamily="34" charset="-120"/>
              </a:rPr>
              <a:t>Peace, Justice and Strong Institutions</a:t>
            </a:r>
            <a:endParaRPr lang="en-US" sz="1500" dirty="0"/>
          </a:p>
        </p:txBody>
      </p:sp>
      <p:sp>
        <p:nvSpPr>
          <p:cNvPr id="14" name="Text 12"/>
          <p:cNvSpPr/>
          <p:nvPr/>
        </p:nvSpPr>
        <p:spPr>
          <a:xfrm>
            <a:off x="8136483" y="2727920"/>
            <a:ext cx="315686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5"/>
                </a:solidFill>
                <a:latin typeface="Public Sans" pitchFamily="34" charset="0"/>
                <a:ea typeface="Public Sans" pitchFamily="34" charset="-122"/>
                <a:cs typeface="Public Sans" pitchFamily="34" charset="-120"/>
              </a:rPr>
              <a:t>Accountable schools: role-based access, staff second factor, logs (REQ-1, 31, 28).</a:t>
            </a:r>
            <a:endParaRPr lang="en-US" sz="1200" dirty="0"/>
          </a:p>
        </p:txBody>
      </p:sp>
      <p:sp>
        <p:nvSpPr>
          <p:cNvPr id="15" name="Text 13"/>
          <p:cNvSpPr/>
          <p:nvPr/>
        </p:nvSpPr>
        <p:spPr>
          <a:xfrm>
            <a:off x="812800" y="353556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AA6C9"/>
                </a:solidFill>
                <a:latin typeface="Public Sans" pitchFamily="34" charset="0"/>
                <a:ea typeface="Public Sans" pitchFamily="34" charset="-122"/>
                <a:cs typeface="Public Sans" pitchFamily="34" charset="-120"/>
              </a:rPr>
              <a:t>VISION 2030</a:t>
            </a:r>
            <a:endParaRPr lang="en-US" sz="1400" dirty="0"/>
          </a:p>
        </p:txBody>
      </p:sp>
      <p:sp>
        <p:nvSpPr>
          <p:cNvPr id="16" name="Shape 14"/>
          <p:cNvSpPr/>
          <p:nvPr/>
        </p:nvSpPr>
        <p:spPr>
          <a:xfrm>
            <a:off x="819150" y="3994001"/>
            <a:ext cx="3407817" cy="1008261"/>
          </a:xfrm>
          <a:prstGeom prst="roundRect">
            <a:avLst>
              <a:gd name="adj" fmla="val 9447"/>
            </a:avLst>
          </a:prstGeom>
          <a:noFill/>
          <a:ln w="12700">
            <a:solidFill>
              <a:srgbClr val="34478A"/>
            </a:solidFill>
            <a:prstDash val="solid"/>
          </a:ln>
        </p:spPr>
      </p:sp>
      <p:sp>
        <p:nvSpPr>
          <p:cNvPr id="17" name="Text 15"/>
          <p:cNvSpPr/>
          <p:nvPr/>
        </p:nvSpPr>
        <p:spPr>
          <a:xfrm>
            <a:off x="977900" y="4152751"/>
            <a:ext cx="3183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B544"/>
                </a:solidFill>
                <a:latin typeface="Public Sans" pitchFamily="34" charset="0"/>
                <a:ea typeface="Public Sans" pitchFamily="34" charset="-122"/>
                <a:cs typeface="Public Sans" pitchFamily="34" charset="-120"/>
              </a:rPr>
              <a:t>A thriving economy</a:t>
            </a:r>
            <a:endParaRPr lang="en-US" sz="1400" dirty="0"/>
          </a:p>
        </p:txBody>
      </p:sp>
      <p:sp>
        <p:nvSpPr>
          <p:cNvPr id="18" name="Text 16"/>
          <p:cNvSpPr/>
          <p:nvPr/>
        </p:nvSpPr>
        <p:spPr>
          <a:xfrm>
            <a:off x="977900" y="4416871"/>
            <a:ext cx="31830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5"/>
                </a:solidFill>
                <a:latin typeface="Public Sans" pitchFamily="34" charset="0"/>
                <a:ea typeface="Public Sans" pitchFamily="34" charset="-122"/>
                <a:cs typeface="Public Sans" pitchFamily="34" charset="-120"/>
              </a:rPr>
              <a:t>Saudi-built education technology and digital skills.</a:t>
            </a:r>
            <a:endParaRPr lang="en-US" sz="1200" dirty="0"/>
          </a:p>
        </p:txBody>
      </p:sp>
      <p:sp>
        <p:nvSpPr>
          <p:cNvPr id="19" name="Shape 17"/>
          <p:cNvSpPr/>
          <p:nvPr/>
        </p:nvSpPr>
        <p:spPr>
          <a:xfrm>
            <a:off x="4392067" y="3994001"/>
            <a:ext cx="3407866" cy="1008261"/>
          </a:xfrm>
          <a:prstGeom prst="roundRect">
            <a:avLst>
              <a:gd name="adj" fmla="val 9447"/>
            </a:avLst>
          </a:prstGeom>
          <a:noFill/>
          <a:ln w="12700">
            <a:solidFill>
              <a:srgbClr val="34478A"/>
            </a:solidFill>
            <a:prstDash val="solid"/>
          </a:ln>
        </p:spPr>
      </p:sp>
      <p:sp>
        <p:nvSpPr>
          <p:cNvPr id="20" name="Text 18"/>
          <p:cNvSpPr/>
          <p:nvPr/>
        </p:nvSpPr>
        <p:spPr>
          <a:xfrm>
            <a:off x="4550817" y="4152751"/>
            <a:ext cx="318307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B544"/>
                </a:solidFill>
                <a:latin typeface="Public Sans" pitchFamily="34" charset="0"/>
                <a:ea typeface="Public Sans" pitchFamily="34" charset="-122"/>
                <a:cs typeface="Public Sans" pitchFamily="34" charset="-120"/>
              </a:rPr>
              <a:t>An ambitious nation</a:t>
            </a:r>
            <a:endParaRPr lang="en-US" sz="1400" dirty="0"/>
          </a:p>
        </p:txBody>
      </p:sp>
      <p:sp>
        <p:nvSpPr>
          <p:cNvPr id="21" name="Text 19"/>
          <p:cNvSpPr/>
          <p:nvPr/>
        </p:nvSpPr>
        <p:spPr>
          <a:xfrm>
            <a:off x="4550817" y="4416871"/>
            <a:ext cx="318307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5"/>
                </a:solidFill>
                <a:latin typeface="Public Sans" pitchFamily="34" charset="0"/>
                <a:ea typeface="Public Sans" pitchFamily="34" charset="-122"/>
                <a:cs typeface="Public Sans" pitchFamily="34" charset="-120"/>
              </a:rPr>
              <a:t>Transparent digital services: parents need not visit the school.</a:t>
            </a:r>
            <a:endParaRPr lang="en-US" sz="1200" dirty="0"/>
          </a:p>
        </p:txBody>
      </p:sp>
      <p:sp>
        <p:nvSpPr>
          <p:cNvPr id="22" name="Shape 20"/>
          <p:cNvSpPr/>
          <p:nvPr/>
        </p:nvSpPr>
        <p:spPr>
          <a:xfrm>
            <a:off x="7965033" y="3994001"/>
            <a:ext cx="3407817" cy="1008261"/>
          </a:xfrm>
          <a:prstGeom prst="roundRect">
            <a:avLst>
              <a:gd name="adj" fmla="val 9447"/>
            </a:avLst>
          </a:prstGeom>
          <a:noFill/>
          <a:ln w="12700">
            <a:solidFill>
              <a:srgbClr val="34478A"/>
            </a:solidFill>
            <a:prstDash val="solid"/>
          </a:ln>
        </p:spPr>
      </p:sp>
      <p:sp>
        <p:nvSpPr>
          <p:cNvPr id="23" name="Text 21"/>
          <p:cNvSpPr/>
          <p:nvPr/>
        </p:nvSpPr>
        <p:spPr>
          <a:xfrm>
            <a:off x="8123783" y="4152751"/>
            <a:ext cx="3183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B544"/>
                </a:solidFill>
                <a:latin typeface="Public Sans" pitchFamily="34" charset="0"/>
                <a:ea typeface="Public Sans" pitchFamily="34" charset="-122"/>
                <a:cs typeface="Public Sans" pitchFamily="34" charset="-120"/>
              </a:rPr>
              <a:t>A vibrant society</a:t>
            </a:r>
            <a:endParaRPr lang="en-US" sz="1400" dirty="0"/>
          </a:p>
        </p:txBody>
      </p:sp>
      <p:sp>
        <p:nvSpPr>
          <p:cNvPr id="24" name="Text 22"/>
          <p:cNvSpPr/>
          <p:nvPr/>
        </p:nvSpPr>
        <p:spPr>
          <a:xfrm>
            <a:off x="8123783" y="4416871"/>
            <a:ext cx="31830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5"/>
                </a:solidFill>
                <a:latin typeface="Public Sans" pitchFamily="34" charset="0"/>
                <a:ea typeface="Public Sans" pitchFamily="34" charset="-122"/>
                <a:cs typeface="Public Sans" pitchFamily="34" charset="-120"/>
              </a:rPr>
              <a:t>Families involved in their children's education, in Arabic.</a:t>
            </a:r>
            <a:endParaRPr lang="en-US" sz="1200" dirty="0"/>
          </a:p>
        </p:txBody>
      </p:sp>
      <p:sp>
        <p:nvSpPr>
          <p:cNvPr id="25" name="Text 23"/>
          <p:cNvSpPr/>
          <p:nvPr/>
        </p:nvSpPr>
        <p:spPr>
          <a:xfrm>
            <a:off x="812800" y="6238280"/>
            <a:ext cx="71679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D6"/>
                </a:solidFill>
                <a:latin typeface="Public Sans" pitchFamily="34" charset="0"/>
                <a:ea typeface="Public Sans" pitchFamily="34" charset="-122"/>
                <a:cs typeface="Public Sans" pitchFamily="34" charset="-120"/>
              </a:rPr>
              <a:t>SDG 4 is the main goal. The mapping is the team's own; no official targets are quoted.</a:t>
            </a:r>
            <a:endParaRPr lang="en-US" sz="1200" dirty="0"/>
          </a:p>
        </p:txBody>
      </p:sp>
      <p:sp>
        <p:nvSpPr>
          <p:cNvPr id="26"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6D6"/>
                </a:solidFill>
                <a:latin typeface="Public Sans" pitchFamily="34" charset="0"/>
                <a:ea typeface="Public Sans" pitchFamily="34" charset="-122"/>
                <a:cs typeface="Public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4A"/>
                </a:solidFill>
                <a:latin typeface="Rubik" pitchFamily="34" charset="0"/>
                <a:ea typeface="Rubik" pitchFamily="34" charset="-122"/>
                <a:cs typeface="Rubik" pitchFamily="34" charset="-120"/>
              </a:rPr>
              <a:t>Personas: four users, one hardest to serve</a:t>
            </a:r>
            <a:endParaRPr lang="en-US" sz="3200" dirty="0"/>
          </a:p>
        </p:txBody>
      </p:sp>
      <p:sp>
        <p:nvSpPr>
          <p:cNvPr id="3" name="Shape 1"/>
          <p:cNvSpPr/>
          <p:nvPr/>
        </p:nvSpPr>
        <p:spPr>
          <a:xfrm>
            <a:off x="815975" y="1491605"/>
            <a:ext cx="2524125" cy="2444452"/>
          </a:xfrm>
          <a:prstGeom prst="roundRect">
            <a:avLst>
              <a:gd name="adj" fmla="val 4026"/>
            </a:avLst>
          </a:prstGeom>
          <a:solidFill>
            <a:srgbClr val="FFFEFA"/>
          </a:solidFill>
          <a:ln w="6350">
            <a:solidFill>
              <a:srgbClr val="DCDFE6"/>
            </a:solidFill>
            <a:prstDash val="solid"/>
          </a:ln>
        </p:spPr>
      </p:sp>
      <p:sp>
        <p:nvSpPr>
          <p:cNvPr id="4" name="Text 2"/>
          <p:cNvSpPr/>
          <p:nvPr/>
        </p:nvSpPr>
        <p:spPr>
          <a:xfrm>
            <a:off x="996950" y="1672580"/>
            <a:ext cx="222704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7C98"/>
                </a:solidFill>
                <a:latin typeface="Public Sans" pitchFamily="34" charset="0"/>
                <a:ea typeface="Public Sans" pitchFamily="34" charset="-122"/>
                <a:cs typeface="Public Sans" pitchFamily="34" charset="-120"/>
              </a:rPr>
              <a:t>Principal</a:t>
            </a:r>
            <a:endParaRPr lang="en-US" sz="1800" dirty="0"/>
          </a:p>
        </p:txBody>
      </p:sp>
      <p:sp>
        <p:nvSpPr>
          <p:cNvPr id="5" name="Text 3"/>
          <p:cNvSpPr/>
          <p:nvPr/>
        </p:nvSpPr>
        <p:spPr>
          <a:xfrm>
            <a:off x="996950" y="2035770"/>
            <a:ext cx="22270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Public Sans" pitchFamily="34" charset="0"/>
                <a:ea typeface="Public Sans" pitchFamily="34" charset="-122"/>
                <a:cs typeface="Public Sans" pitchFamily="34" charset="-120"/>
              </a:rPr>
              <a:t>Age 45 · desktop in the office</a:t>
            </a:r>
            <a:endParaRPr lang="en-US" sz="1200" dirty="0"/>
          </a:p>
        </p:txBody>
      </p:sp>
      <p:sp>
        <p:nvSpPr>
          <p:cNvPr id="6" name="Text 4"/>
          <p:cNvSpPr/>
          <p:nvPr/>
        </p:nvSpPr>
        <p:spPr>
          <a:xfrm>
            <a:off x="996950" y="2337991"/>
            <a:ext cx="222704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04A"/>
                </a:solidFill>
                <a:latin typeface="Public Sans" pitchFamily="34" charset="0"/>
                <a:ea typeface="Public Sans" pitchFamily="34" charset="-122"/>
                <a:cs typeface="Public Sans" pitchFamily="34" charset="-120"/>
              </a:rPr>
              <a:t>Goal.</a:t>
            </a:r>
            <a:r>
              <a:rPr lang="en-US" sz="1200" dirty="0">
                <a:solidFill>
                  <a:srgbClr val="12204A"/>
                </a:solidFill>
                <a:latin typeface="Public Sans" pitchFamily="34" charset="0"/>
                <a:ea typeface="Public Sans" pitchFamily="34" charset="-122"/>
                <a:cs typeface="Public Sans" pitchFamily="34" charset="-120"/>
              </a:rPr>
              <a:t> Supervise the school from one place.</a:t>
            </a:r>
            <a:endParaRPr lang="en-US" sz="1200" dirty="0"/>
          </a:p>
        </p:txBody>
      </p:sp>
      <p:sp>
        <p:nvSpPr>
          <p:cNvPr id="7" name="Text 5"/>
          <p:cNvSpPr/>
          <p:nvPr/>
        </p:nvSpPr>
        <p:spPr>
          <a:xfrm>
            <a:off x="996950" y="2853531"/>
            <a:ext cx="222704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04A"/>
                </a:solidFill>
                <a:latin typeface="Public Sans" pitchFamily="34" charset="0"/>
                <a:ea typeface="Public Sans" pitchFamily="34" charset="-122"/>
                <a:cs typeface="Public Sans" pitchFamily="34" charset="-120"/>
              </a:rPr>
              <a:t>Pain.</a:t>
            </a:r>
            <a:r>
              <a:rPr lang="en-US" sz="1200" dirty="0">
                <a:solidFill>
                  <a:srgbClr val="12204A"/>
                </a:solidFill>
                <a:latin typeface="Public Sans" pitchFamily="34" charset="0"/>
                <a:ea typeface="Public Sans" pitchFamily="34" charset="-122"/>
                <a:cs typeface="Public Sans" pitchFamily="34" charset="-120"/>
              </a:rPr>
              <a:t> Follows every teacher one by one.</a:t>
            </a:r>
            <a:endParaRPr lang="en-US" sz="1200" dirty="0"/>
          </a:p>
        </p:txBody>
      </p:sp>
      <p:sp>
        <p:nvSpPr>
          <p:cNvPr id="8" name="Shape 6"/>
          <p:cNvSpPr/>
          <p:nvPr/>
        </p:nvSpPr>
        <p:spPr>
          <a:xfrm>
            <a:off x="3498850" y="1491605"/>
            <a:ext cx="2524125" cy="2444452"/>
          </a:xfrm>
          <a:prstGeom prst="roundRect">
            <a:avLst>
              <a:gd name="adj" fmla="val 4026"/>
            </a:avLst>
          </a:prstGeom>
          <a:solidFill>
            <a:srgbClr val="FFFEFA"/>
          </a:solidFill>
          <a:ln w="6350">
            <a:solidFill>
              <a:srgbClr val="DCDFE6"/>
            </a:solidFill>
            <a:prstDash val="solid"/>
          </a:ln>
        </p:spPr>
      </p:sp>
      <p:sp>
        <p:nvSpPr>
          <p:cNvPr id="9" name="Text 7"/>
          <p:cNvSpPr/>
          <p:nvPr/>
        </p:nvSpPr>
        <p:spPr>
          <a:xfrm>
            <a:off x="3679825" y="1672580"/>
            <a:ext cx="222704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7C98"/>
                </a:solidFill>
                <a:latin typeface="Public Sans" pitchFamily="34" charset="0"/>
                <a:ea typeface="Public Sans" pitchFamily="34" charset="-122"/>
                <a:cs typeface="Public Sans" pitchFamily="34" charset="-120"/>
              </a:rPr>
              <a:t>Teacher (Sara)</a:t>
            </a:r>
            <a:endParaRPr lang="en-US" sz="1800" dirty="0"/>
          </a:p>
        </p:txBody>
      </p:sp>
      <p:sp>
        <p:nvSpPr>
          <p:cNvPr id="10" name="Text 8"/>
          <p:cNvSpPr/>
          <p:nvPr/>
        </p:nvSpPr>
        <p:spPr>
          <a:xfrm>
            <a:off x="3679825" y="2035770"/>
            <a:ext cx="22270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Public Sans" pitchFamily="34" charset="0"/>
                <a:ea typeface="Public Sans" pitchFamily="34" charset="-122"/>
                <a:cs typeface="Public Sans" pitchFamily="34" charset="-120"/>
              </a:rPr>
              <a:t>Age 32 · laptop in class</a:t>
            </a:r>
            <a:endParaRPr lang="en-US" sz="1200" dirty="0"/>
          </a:p>
        </p:txBody>
      </p:sp>
      <p:sp>
        <p:nvSpPr>
          <p:cNvPr id="11" name="Text 9"/>
          <p:cNvSpPr/>
          <p:nvPr/>
        </p:nvSpPr>
        <p:spPr>
          <a:xfrm>
            <a:off x="3679825" y="2337991"/>
            <a:ext cx="2227040"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04A"/>
                </a:solidFill>
                <a:latin typeface="Public Sans" pitchFamily="34" charset="0"/>
                <a:ea typeface="Public Sans" pitchFamily="34" charset="-122"/>
                <a:cs typeface="Public Sans" pitchFamily="34" charset="-120"/>
              </a:rPr>
              <a:t>Goal.</a:t>
            </a:r>
            <a:r>
              <a:rPr lang="en-US" sz="1200" dirty="0">
                <a:solidFill>
                  <a:srgbClr val="12204A"/>
                </a:solidFill>
                <a:latin typeface="Public Sans" pitchFamily="34" charset="0"/>
                <a:ea typeface="Public Sans" pitchFamily="34" charset="-122"/>
                <a:cs typeface="Public Sans" pitchFamily="34" charset="-120"/>
              </a:rPr>
              <a:t> Record attendance and grades fast; spot struggling students.</a:t>
            </a:r>
            <a:endParaRPr lang="en-US" sz="1200" dirty="0"/>
          </a:p>
        </p:txBody>
      </p:sp>
      <p:sp>
        <p:nvSpPr>
          <p:cNvPr id="12" name="Text 10"/>
          <p:cNvSpPr/>
          <p:nvPr/>
        </p:nvSpPr>
        <p:spPr>
          <a:xfrm>
            <a:off x="3679825" y="3066852"/>
            <a:ext cx="222704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04A"/>
                </a:solidFill>
                <a:latin typeface="Public Sans" pitchFamily="34" charset="0"/>
                <a:ea typeface="Public Sans" pitchFamily="34" charset="-122"/>
                <a:cs typeface="Public Sans" pitchFamily="34" charset="-120"/>
              </a:rPr>
              <a:t>Pain.</a:t>
            </a:r>
            <a:r>
              <a:rPr lang="en-US" sz="1200" dirty="0">
                <a:solidFill>
                  <a:srgbClr val="12204A"/>
                </a:solidFill>
                <a:latin typeface="Public Sans" pitchFamily="34" charset="0"/>
                <a:ea typeface="Public Sans" pitchFamily="34" charset="-122"/>
                <a:cs typeface="Public Sans" pitchFamily="34" charset="-120"/>
              </a:rPr>
              <a:t> Paper sheets, repeated entry.</a:t>
            </a:r>
            <a:endParaRPr lang="en-US" sz="1200" dirty="0"/>
          </a:p>
        </p:txBody>
      </p:sp>
      <p:sp>
        <p:nvSpPr>
          <p:cNvPr id="13" name="Shape 11"/>
          <p:cNvSpPr/>
          <p:nvPr/>
        </p:nvSpPr>
        <p:spPr>
          <a:xfrm>
            <a:off x="6181725" y="1491605"/>
            <a:ext cx="2524125" cy="2444452"/>
          </a:xfrm>
          <a:prstGeom prst="roundRect">
            <a:avLst>
              <a:gd name="adj" fmla="val 4026"/>
            </a:avLst>
          </a:prstGeom>
          <a:solidFill>
            <a:srgbClr val="FFFEFA"/>
          </a:solidFill>
          <a:ln w="6350">
            <a:solidFill>
              <a:srgbClr val="DCDFE6"/>
            </a:solidFill>
            <a:prstDash val="solid"/>
          </a:ln>
        </p:spPr>
      </p:sp>
      <p:sp>
        <p:nvSpPr>
          <p:cNvPr id="14" name="Text 12"/>
          <p:cNvSpPr/>
          <p:nvPr/>
        </p:nvSpPr>
        <p:spPr>
          <a:xfrm>
            <a:off x="6362700" y="1672580"/>
            <a:ext cx="222704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7C98"/>
                </a:solidFill>
                <a:latin typeface="Public Sans" pitchFamily="34" charset="0"/>
                <a:ea typeface="Public Sans" pitchFamily="34" charset="-122"/>
                <a:cs typeface="Public Sans" pitchFamily="34" charset="-120"/>
              </a:rPr>
              <a:t>Student</a:t>
            </a:r>
            <a:endParaRPr lang="en-US" sz="1800" dirty="0"/>
          </a:p>
        </p:txBody>
      </p:sp>
      <p:sp>
        <p:nvSpPr>
          <p:cNvPr id="15" name="Text 13"/>
          <p:cNvSpPr/>
          <p:nvPr/>
        </p:nvSpPr>
        <p:spPr>
          <a:xfrm>
            <a:off x="6362700" y="2035770"/>
            <a:ext cx="22270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Public Sans" pitchFamily="34" charset="0"/>
                <a:ea typeface="Public Sans" pitchFamily="34" charset="-122"/>
                <a:cs typeface="Public Sans" pitchFamily="34" charset="-120"/>
              </a:rPr>
              <a:t>Age 15 · desktop at home</a:t>
            </a:r>
            <a:endParaRPr lang="en-US" sz="1200" dirty="0"/>
          </a:p>
        </p:txBody>
      </p:sp>
      <p:sp>
        <p:nvSpPr>
          <p:cNvPr id="16" name="Text 14"/>
          <p:cNvSpPr/>
          <p:nvPr/>
        </p:nvSpPr>
        <p:spPr>
          <a:xfrm>
            <a:off x="6362700" y="2337991"/>
            <a:ext cx="222704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04A"/>
                </a:solidFill>
                <a:latin typeface="Public Sans" pitchFamily="34" charset="0"/>
                <a:ea typeface="Public Sans" pitchFamily="34" charset="-122"/>
                <a:cs typeface="Public Sans" pitchFamily="34" charset="-120"/>
              </a:rPr>
              <a:t>Goal.</a:t>
            </a:r>
            <a:r>
              <a:rPr lang="en-US" sz="1200" dirty="0">
                <a:solidFill>
                  <a:srgbClr val="12204A"/>
                </a:solidFill>
                <a:latin typeface="Public Sans" pitchFamily="34" charset="0"/>
                <a:ea typeface="Public Sans" pitchFamily="34" charset="-122"/>
                <a:cs typeface="Public Sans" pitchFamily="34" charset="-120"/>
              </a:rPr>
              <a:t> Solve assignments and quizzes; track attendance.</a:t>
            </a:r>
            <a:endParaRPr lang="en-US" sz="1200" dirty="0"/>
          </a:p>
        </p:txBody>
      </p:sp>
      <p:sp>
        <p:nvSpPr>
          <p:cNvPr id="17" name="Text 15"/>
          <p:cNvSpPr/>
          <p:nvPr/>
        </p:nvSpPr>
        <p:spPr>
          <a:xfrm>
            <a:off x="6362700" y="2853531"/>
            <a:ext cx="222704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204A"/>
                </a:solidFill>
                <a:latin typeface="Public Sans" pitchFamily="34" charset="0"/>
                <a:ea typeface="Public Sans" pitchFamily="34" charset="-122"/>
                <a:cs typeface="Public Sans" pitchFamily="34" charset="-120"/>
              </a:rPr>
              <a:t>Pain.</a:t>
            </a:r>
            <a:r>
              <a:rPr lang="en-US" sz="1200" dirty="0">
                <a:solidFill>
                  <a:srgbClr val="12204A"/>
                </a:solidFill>
                <a:latin typeface="Public Sans" pitchFamily="34" charset="0"/>
                <a:ea typeface="Public Sans" pitchFamily="34" charset="-122"/>
                <a:cs typeface="Public Sans" pitchFamily="34" charset="-120"/>
              </a:rPr>
              <a:t> Work spread across platforms.</a:t>
            </a:r>
            <a:endParaRPr lang="en-US" sz="1200" dirty="0"/>
          </a:p>
        </p:txBody>
      </p:sp>
      <p:sp>
        <p:nvSpPr>
          <p:cNvPr id="18" name="Shape 16"/>
          <p:cNvSpPr/>
          <p:nvPr/>
        </p:nvSpPr>
        <p:spPr>
          <a:xfrm>
            <a:off x="8861425" y="1488430"/>
            <a:ext cx="2517775" cy="2450802"/>
          </a:xfrm>
          <a:prstGeom prst="roundRect">
            <a:avLst>
              <a:gd name="adj" fmla="val 4146"/>
            </a:avLst>
          </a:prstGeom>
          <a:solidFill>
            <a:srgbClr val="12204A"/>
          </a:solidFill>
          <a:ln/>
        </p:spPr>
      </p:sp>
      <p:sp>
        <p:nvSpPr>
          <p:cNvPr id="19" name="Text 17"/>
          <p:cNvSpPr/>
          <p:nvPr/>
        </p:nvSpPr>
        <p:spPr>
          <a:xfrm>
            <a:off x="9039225" y="1666230"/>
            <a:ext cx="2227040"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2B544"/>
                </a:solidFill>
                <a:latin typeface="Public Sans" pitchFamily="34" charset="0"/>
                <a:ea typeface="Public Sans" pitchFamily="34" charset="-122"/>
                <a:cs typeface="Public Sans" pitchFamily="34" charset="-120"/>
              </a:rPr>
              <a:t>Parent (Mohammed)</a:t>
            </a:r>
            <a:endParaRPr lang="en-US" sz="1800" dirty="0"/>
          </a:p>
        </p:txBody>
      </p:sp>
      <p:sp>
        <p:nvSpPr>
          <p:cNvPr id="20" name="Text 18"/>
          <p:cNvSpPr/>
          <p:nvPr/>
        </p:nvSpPr>
        <p:spPr>
          <a:xfrm>
            <a:off x="9039225" y="2303711"/>
            <a:ext cx="22270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A"/>
                </a:solidFill>
                <a:latin typeface="Public Sans" pitchFamily="34" charset="0"/>
                <a:ea typeface="Public Sans" pitchFamily="34" charset="-122"/>
                <a:cs typeface="Public Sans" pitchFamily="34" charset="-120"/>
              </a:rPr>
              <a:t>Age 40 · phone, anywhere · low skill</a:t>
            </a:r>
            <a:endParaRPr lang="en-US" sz="1200" dirty="0"/>
          </a:p>
        </p:txBody>
      </p:sp>
      <p:sp>
        <p:nvSpPr>
          <p:cNvPr id="21" name="Text 19"/>
          <p:cNvSpPr/>
          <p:nvPr/>
        </p:nvSpPr>
        <p:spPr>
          <a:xfrm>
            <a:off x="9039225" y="2819251"/>
            <a:ext cx="222704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7F6F1"/>
                </a:solidFill>
                <a:latin typeface="Public Sans" pitchFamily="34" charset="0"/>
                <a:ea typeface="Public Sans" pitchFamily="34" charset="-122"/>
                <a:cs typeface="Public Sans" pitchFamily="34" charset="-120"/>
              </a:rPr>
              <a:t>Goal.</a:t>
            </a:r>
            <a:r>
              <a:rPr lang="en-US" sz="1200" dirty="0">
                <a:solidFill>
                  <a:srgbClr val="F7F6F1"/>
                </a:solidFill>
                <a:latin typeface="Public Sans" pitchFamily="34" charset="0"/>
                <a:ea typeface="Public Sans" pitchFamily="34" charset="-122"/>
                <a:cs typeface="Public Sans" pitchFamily="34" charset="-120"/>
              </a:rPr>
              <a:t> Track his child's progress.</a:t>
            </a:r>
            <a:endParaRPr lang="en-US" sz="1200" dirty="0"/>
          </a:p>
        </p:txBody>
      </p:sp>
      <p:sp>
        <p:nvSpPr>
          <p:cNvPr id="22" name="Text 20"/>
          <p:cNvSpPr/>
          <p:nvPr/>
        </p:nvSpPr>
        <p:spPr>
          <a:xfrm>
            <a:off x="9039225" y="3334792"/>
            <a:ext cx="222704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7F6F1"/>
                </a:solidFill>
                <a:latin typeface="Public Sans" pitchFamily="34" charset="0"/>
                <a:ea typeface="Public Sans" pitchFamily="34" charset="-122"/>
                <a:cs typeface="Public Sans" pitchFamily="34" charset="-120"/>
              </a:rPr>
              <a:t>Pain.</a:t>
            </a:r>
            <a:r>
              <a:rPr lang="en-US" sz="1200" dirty="0">
                <a:solidFill>
                  <a:srgbClr val="F7F6F1"/>
                </a:solidFill>
                <a:latin typeface="Public Sans" pitchFamily="34" charset="0"/>
                <a:ea typeface="Public Sans" pitchFamily="34" charset="-122"/>
                <a:cs typeface="Public Sans" pitchFamily="34" charset="-120"/>
              </a:rPr>
              <a:t> Must visit the school to follow status.</a:t>
            </a:r>
            <a:endParaRPr lang="en-US" sz="1200" dirty="0"/>
          </a:p>
        </p:txBody>
      </p:sp>
      <p:sp>
        <p:nvSpPr>
          <p:cNvPr id="23" name="Text 21"/>
          <p:cNvSpPr/>
          <p:nvPr/>
        </p:nvSpPr>
        <p:spPr>
          <a:xfrm>
            <a:off x="812800" y="4167832"/>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560"/>
                </a:solidFill>
                <a:latin typeface="Public Sans" pitchFamily="34" charset="0"/>
                <a:ea typeface="Public Sans" pitchFamily="34" charset="-122"/>
                <a:cs typeface="Public Sans" pitchFamily="34" charset="-120"/>
              </a:rPr>
              <a:t>A fifth persona, the administrator (Nora), enrolls students, builds the timetable and produces reports.</a:t>
            </a:r>
            <a:endParaRPr lang="en-US" sz="1300" dirty="0"/>
          </a:p>
        </p:txBody>
      </p:sp>
      <p:sp>
        <p:nvSpPr>
          <p:cNvPr id="24" name="Text 22"/>
          <p:cNvSpPr/>
          <p:nvPr/>
        </p:nvSpPr>
        <p:spPr>
          <a:xfrm>
            <a:off x="812800" y="6238280"/>
            <a:ext cx="61038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Public Sans" pitchFamily="34" charset="0"/>
                <a:ea typeface="Public Sans" pitchFamily="34" charset="-122"/>
                <a:cs typeface="Public Sans" pitchFamily="34" charset="-120"/>
              </a:rPr>
              <a:t>Source: Lab 2. Personas are team assumptions, to validate by interviews.</a:t>
            </a:r>
            <a:endParaRPr lang="en-US" sz="1200" dirty="0"/>
          </a:p>
        </p:txBody>
      </p:sp>
      <p:sp>
        <p:nvSpPr>
          <p:cNvPr id="25" name="Text 2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8"/>
                </a:solidFill>
                <a:latin typeface="Public Sans" pitchFamily="34" charset="0"/>
                <a:ea typeface="Public Sans" pitchFamily="34" charset="-122"/>
                <a:cs typeface="Public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04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6F1"/>
                </a:solidFill>
                <a:latin typeface="Rubik" pitchFamily="34" charset="0"/>
                <a:ea typeface="Rubik" pitchFamily="34" charset="-122"/>
                <a:cs typeface="Rubik" pitchFamily="34" charset="-120"/>
              </a:rPr>
              <a:t>Elicitation methods</a:t>
            </a:r>
            <a:endParaRPr lang="en-US" sz="3200" dirty="0"/>
          </a:p>
        </p:txBody>
      </p:sp>
      <p:sp>
        <p:nvSpPr>
          <p:cNvPr id="3" name="Text 1"/>
          <p:cNvSpPr/>
          <p:nvPr/>
        </p:nvSpPr>
        <p:spPr>
          <a:xfrm>
            <a:off x="812800" y="1488430"/>
            <a:ext cx="5337048"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2B544"/>
                </a:solidFill>
                <a:latin typeface="Public Sans" pitchFamily="34" charset="0"/>
                <a:ea typeface="Public Sans" pitchFamily="34" charset="-122"/>
                <a:cs typeface="Public Sans" pitchFamily="34" charset="-120"/>
              </a:rPr>
              <a:t>DONE</a:t>
            </a:r>
            <a:endParaRPr lang="en-US" sz="1400" dirty="0"/>
          </a:p>
        </p:txBody>
      </p:sp>
      <p:sp>
        <p:nvSpPr>
          <p:cNvPr id="4" name="Text 2"/>
          <p:cNvSpPr/>
          <p:nvPr/>
        </p:nvSpPr>
        <p:spPr>
          <a:xfrm>
            <a:off x="812800" y="1838920"/>
            <a:ext cx="5181600" cy="485130"/>
          </a:xfrm>
          <a:prstGeom prst="roundRect">
            <a:avLst>
              <a:gd name="adj" fmla="val 15707"/>
            </a:avLst>
          </a:prstGeom>
          <a:solidFill>
            <a:srgbClr val="1B2D63"/>
          </a:solidFill>
          <a:ln/>
        </p:spPr>
        <p:txBody>
          <a:bodyPr wrap="square" lIns="130082" tIns="104682" rIns="0" bIns="79282" rtlCol="0" anchor="t">
            <a:normAutofit/>
          </a:bodyPr>
          <a:lstStyle/>
          <a:p>
            <a:pPr algn="l" indent="0" marL="0">
              <a:lnSpc>
                <a:spcPts val="1820"/>
              </a:lnSpc>
              <a:buNone/>
            </a:pPr>
            <a:r>
              <a:rPr lang="en-US" sz="1400" b="1" dirty="0">
                <a:solidFill>
                  <a:srgbClr val="F7F6F1"/>
                </a:solidFill>
                <a:latin typeface="Public Sans" pitchFamily="34" charset="0"/>
                <a:ea typeface="Public Sans" pitchFamily="34" charset="-122"/>
                <a:cs typeface="Public Sans" pitchFamily="34" charset="-120"/>
              </a:rPr>
              <a:t>Document analysis</a:t>
            </a:r>
            <a:r>
              <a:rPr lang="en-US" sz="1400" dirty="0">
                <a:solidFill>
                  <a:srgbClr val="F7F6F1"/>
                </a:solidFill>
                <a:latin typeface="Public Sans" pitchFamily="34" charset="0"/>
                <a:ea typeface="Public Sans" pitchFamily="34" charset="-122"/>
                <a:cs typeface="Public Sans" pitchFamily="34" charset="-120"/>
              </a:rPr>
              <a:t> of four competitors and their reviews</a:t>
            </a:r>
            <a:endParaRPr lang="en-US" sz="1400" dirty="0"/>
          </a:p>
        </p:txBody>
      </p:sp>
      <p:sp>
        <p:nvSpPr>
          <p:cNvPr id="5" name="Text 3"/>
          <p:cNvSpPr/>
          <p:nvPr/>
        </p:nvSpPr>
        <p:spPr>
          <a:xfrm>
            <a:off x="812800" y="2425650"/>
            <a:ext cx="5181600" cy="485130"/>
          </a:xfrm>
          <a:prstGeom prst="roundRect">
            <a:avLst>
              <a:gd name="adj" fmla="val 15707"/>
            </a:avLst>
          </a:prstGeom>
          <a:solidFill>
            <a:srgbClr val="1B2D63"/>
          </a:solidFill>
          <a:ln/>
        </p:spPr>
        <p:txBody>
          <a:bodyPr wrap="square" lIns="130082" tIns="104682" rIns="0" bIns="79282" rtlCol="0" anchor="t">
            <a:normAutofit/>
          </a:bodyPr>
          <a:lstStyle/>
          <a:p>
            <a:pPr algn="l" indent="0" marL="0">
              <a:lnSpc>
                <a:spcPts val="1820"/>
              </a:lnSpc>
              <a:buNone/>
            </a:pPr>
            <a:r>
              <a:rPr lang="en-US" sz="1400" b="1" dirty="0">
                <a:solidFill>
                  <a:srgbClr val="F7F6F1"/>
                </a:solidFill>
                <a:latin typeface="Public Sans" pitchFamily="34" charset="0"/>
                <a:ea typeface="Public Sans" pitchFamily="34" charset="-122"/>
                <a:cs typeface="Public Sans" pitchFamily="34" charset="-120"/>
              </a:rPr>
              <a:t>Personas and scenarios</a:t>
            </a:r>
            <a:r>
              <a:rPr lang="en-US" sz="1400" dirty="0">
                <a:solidFill>
                  <a:srgbClr val="F7F6F1"/>
                </a:solidFill>
                <a:latin typeface="Public Sans" pitchFamily="34" charset="0"/>
                <a:ea typeface="Public Sans" pitchFamily="34" charset="-122"/>
                <a:cs typeface="Public Sans" pitchFamily="34" charset="-120"/>
              </a:rPr>
              <a:t> for six user groups</a:t>
            </a:r>
            <a:endParaRPr lang="en-US" sz="1400" dirty="0"/>
          </a:p>
        </p:txBody>
      </p:sp>
      <p:sp>
        <p:nvSpPr>
          <p:cNvPr id="6" name="Text 4"/>
          <p:cNvSpPr/>
          <p:nvPr/>
        </p:nvSpPr>
        <p:spPr>
          <a:xfrm>
            <a:off x="812800" y="3012380"/>
            <a:ext cx="5181600" cy="485130"/>
          </a:xfrm>
          <a:prstGeom prst="roundRect">
            <a:avLst>
              <a:gd name="adj" fmla="val 15707"/>
            </a:avLst>
          </a:prstGeom>
          <a:solidFill>
            <a:srgbClr val="1B2D63"/>
          </a:solidFill>
          <a:ln/>
        </p:spPr>
        <p:txBody>
          <a:bodyPr wrap="square" lIns="130082" tIns="104682" rIns="0" bIns="79282" rtlCol="0" anchor="t">
            <a:normAutofit/>
          </a:bodyPr>
          <a:lstStyle/>
          <a:p>
            <a:pPr algn="l" indent="0" marL="0">
              <a:lnSpc>
                <a:spcPts val="1820"/>
              </a:lnSpc>
              <a:buNone/>
            </a:pPr>
            <a:r>
              <a:rPr lang="en-US" sz="1400" b="1" dirty="0">
                <a:solidFill>
                  <a:srgbClr val="F7F6F1"/>
                </a:solidFill>
                <a:latin typeface="Public Sans" pitchFamily="34" charset="0"/>
                <a:ea typeface="Public Sans" pitchFamily="34" charset="-122"/>
                <a:cs typeface="Public Sans" pitchFamily="34" charset="-120"/>
              </a:rPr>
              <a:t>Brainstorming</a:t>
            </a:r>
            <a:r>
              <a:rPr lang="en-US" sz="1400" dirty="0">
                <a:solidFill>
                  <a:srgbClr val="F7F6F1"/>
                </a:solidFill>
                <a:latin typeface="Public Sans" pitchFamily="34" charset="0"/>
                <a:ea typeface="Public Sans" pitchFamily="34" charset="-122"/>
                <a:cs typeface="Public Sans" pitchFamily="34" charset="-120"/>
              </a:rPr>
              <a:t> 19 user stories</a:t>
            </a:r>
            <a:endParaRPr lang="en-US" sz="1400" dirty="0"/>
          </a:p>
        </p:txBody>
      </p:sp>
      <p:sp>
        <p:nvSpPr>
          <p:cNvPr id="7" name="Text 5"/>
          <p:cNvSpPr/>
          <p:nvPr/>
        </p:nvSpPr>
        <p:spPr>
          <a:xfrm>
            <a:off x="812800" y="3599111"/>
            <a:ext cx="5181600" cy="485130"/>
          </a:xfrm>
          <a:prstGeom prst="roundRect">
            <a:avLst>
              <a:gd name="adj" fmla="val 15707"/>
            </a:avLst>
          </a:prstGeom>
          <a:solidFill>
            <a:srgbClr val="1B2D63"/>
          </a:solidFill>
          <a:ln/>
        </p:spPr>
        <p:txBody>
          <a:bodyPr wrap="square" lIns="130082" tIns="104682" rIns="0" bIns="79282" rtlCol="0" anchor="t">
            <a:normAutofit/>
          </a:bodyPr>
          <a:lstStyle/>
          <a:p>
            <a:pPr algn="l" indent="0" marL="0">
              <a:lnSpc>
                <a:spcPts val="1820"/>
              </a:lnSpc>
              <a:buNone/>
            </a:pPr>
            <a:r>
              <a:rPr lang="en-US" sz="1400" b="1" dirty="0">
                <a:solidFill>
                  <a:srgbClr val="F7F6F1"/>
                </a:solidFill>
                <a:latin typeface="Public Sans" pitchFamily="34" charset="0"/>
                <a:ea typeface="Public Sans" pitchFamily="34" charset="-122"/>
                <a:cs typeface="Public Sans" pitchFamily="34" charset="-120"/>
              </a:rPr>
              <a:t>Use case modelling</a:t>
            </a:r>
            <a:r>
              <a:rPr lang="en-US" sz="1400" dirty="0">
                <a:solidFill>
                  <a:srgbClr val="F7F6F1"/>
                </a:solidFill>
                <a:latin typeface="Public Sans" pitchFamily="34" charset="0"/>
                <a:ea typeface="Public Sans" pitchFamily="34" charset="-122"/>
                <a:cs typeface="Public Sans" pitchFamily="34" charset="-120"/>
              </a:rPr>
              <a:t> with 18 specifications</a:t>
            </a:r>
            <a:endParaRPr lang="en-US" sz="1400" dirty="0"/>
          </a:p>
        </p:txBody>
      </p:sp>
      <p:sp>
        <p:nvSpPr>
          <p:cNvPr id="8" name="Text 6"/>
          <p:cNvSpPr/>
          <p:nvPr/>
        </p:nvSpPr>
        <p:spPr>
          <a:xfrm>
            <a:off x="6197600" y="1488430"/>
            <a:ext cx="5337048"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1AA6C9"/>
                </a:solidFill>
                <a:latin typeface="Public Sans" pitchFamily="34" charset="0"/>
                <a:ea typeface="Public Sans" pitchFamily="34" charset="-122"/>
                <a:cs typeface="Public Sans" pitchFamily="34" charset="-120"/>
              </a:rPr>
              <a:t>PLANNED, NO DATA YET</a:t>
            </a:r>
            <a:endParaRPr lang="en-US" sz="1400" dirty="0"/>
          </a:p>
        </p:txBody>
      </p:sp>
      <p:sp>
        <p:nvSpPr>
          <p:cNvPr id="9" name="Text 7"/>
          <p:cNvSpPr/>
          <p:nvPr/>
        </p:nvSpPr>
        <p:spPr>
          <a:xfrm>
            <a:off x="6203950" y="1845270"/>
            <a:ext cx="5168900" cy="728960"/>
          </a:xfrm>
          <a:prstGeom prst="roundRect">
            <a:avLst>
              <a:gd name="adj" fmla="val 9582"/>
            </a:avLst>
          </a:prstGeom>
          <a:noFill/>
          <a:ln w="12700">
            <a:solidFill>
              <a:srgbClr val="6F7FAE"/>
            </a:solidFill>
            <a:prstDash val="dash"/>
          </a:ln>
        </p:spPr>
        <p:txBody>
          <a:bodyPr wrap="square" lIns="138292" tIns="112892" rIns="0" bIns="87492" rtlCol="0" anchor="t">
            <a:normAutofit/>
          </a:bodyPr>
          <a:lstStyle/>
          <a:p>
            <a:pPr algn="l" indent="0" marL="0">
              <a:lnSpc>
                <a:spcPts val="1820"/>
              </a:lnSpc>
              <a:buNone/>
            </a:pPr>
            <a:r>
              <a:rPr lang="en-US" sz="1400" b="1" dirty="0">
                <a:solidFill>
                  <a:srgbClr val="F7F6F1"/>
                </a:solidFill>
                <a:latin typeface="Public Sans" pitchFamily="34" charset="0"/>
                <a:ea typeface="Public Sans" pitchFamily="34" charset="-122"/>
                <a:cs typeface="Public Sans" pitchFamily="34" charset="-120"/>
              </a:rPr>
              <a:t>Parent survey</a:t>
            </a:r>
            <a:r>
              <a:rPr lang="en-US" sz="1400" dirty="0">
                <a:solidFill>
                  <a:srgbClr val="F7F6F1"/>
                </a:solidFill>
                <a:latin typeface="Public Sans" pitchFamily="34" charset="0"/>
                <a:ea typeface="Public Sans" pitchFamily="34" charset="-122"/>
                <a:cs typeface="Public Sans" pitchFamily="34" charset="-120"/>
              </a:rPr>
              <a:t> to confirm the fee-payment gap and alert habits</a:t>
            </a:r>
            <a:endParaRPr lang="en-US" sz="1400" dirty="0"/>
          </a:p>
        </p:txBody>
      </p:sp>
      <p:sp>
        <p:nvSpPr>
          <p:cNvPr id="10" name="Text 8"/>
          <p:cNvSpPr/>
          <p:nvPr/>
        </p:nvSpPr>
        <p:spPr>
          <a:xfrm>
            <a:off x="6203950" y="2688530"/>
            <a:ext cx="5168900" cy="728960"/>
          </a:xfrm>
          <a:prstGeom prst="roundRect">
            <a:avLst>
              <a:gd name="adj" fmla="val 9582"/>
            </a:avLst>
          </a:prstGeom>
          <a:noFill/>
          <a:ln w="12700">
            <a:solidFill>
              <a:srgbClr val="6F7FAE"/>
            </a:solidFill>
            <a:prstDash val="dash"/>
          </a:ln>
        </p:spPr>
        <p:txBody>
          <a:bodyPr wrap="square" lIns="138292" tIns="112892" rIns="0" bIns="87492" rtlCol="0" anchor="t">
            <a:normAutofit/>
          </a:bodyPr>
          <a:lstStyle/>
          <a:p>
            <a:pPr algn="l" indent="0" marL="0">
              <a:lnSpc>
                <a:spcPts val="1820"/>
              </a:lnSpc>
              <a:buNone/>
            </a:pPr>
            <a:r>
              <a:rPr lang="en-US" sz="1400" b="1" dirty="0">
                <a:solidFill>
                  <a:srgbClr val="F7F6F1"/>
                </a:solidFill>
                <a:latin typeface="Public Sans" pitchFamily="34" charset="0"/>
                <a:ea typeface="Public Sans" pitchFamily="34" charset="-122"/>
                <a:cs typeface="Public Sans" pitchFamily="34" charset="-120"/>
              </a:rPr>
              <a:t>Interviews</a:t>
            </a:r>
            <a:r>
              <a:rPr lang="en-US" sz="1400" dirty="0">
                <a:solidFill>
                  <a:srgbClr val="F7F6F1"/>
                </a:solidFill>
                <a:latin typeface="Public Sans" pitchFamily="34" charset="0"/>
                <a:ea typeface="Public Sans" pitchFamily="34" charset="-122"/>
                <a:cs typeface="Public Sans" pitchFamily="34" charset="-120"/>
              </a:rPr>
              <a:t> with a principal, teachers and administrative staff</a:t>
            </a:r>
            <a:endParaRPr lang="en-US" sz="1400" dirty="0"/>
          </a:p>
        </p:txBody>
      </p:sp>
      <p:sp>
        <p:nvSpPr>
          <p:cNvPr id="11" name="Text 9"/>
          <p:cNvSpPr/>
          <p:nvPr/>
        </p:nvSpPr>
        <p:spPr>
          <a:xfrm>
            <a:off x="6203950" y="3531791"/>
            <a:ext cx="5168900" cy="497830"/>
          </a:xfrm>
          <a:prstGeom prst="roundRect">
            <a:avLst>
              <a:gd name="adj" fmla="val 14031"/>
            </a:avLst>
          </a:prstGeom>
          <a:noFill/>
          <a:ln w="12700">
            <a:solidFill>
              <a:srgbClr val="6F7FAE"/>
            </a:solidFill>
            <a:prstDash val="dash"/>
          </a:ln>
        </p:spPr>
        <p:txBody>
          <a:bodyPr wrap="square" lIns="138292" tIns="112892" rIns="0" bIns="87492" rtlCol="0" anchor="t">
            <a:normAutofit/>
          </a:bodyPr>
          <a:lstStyle/>
          <a:p>
            <a:pPr algn="l" indent="0" marL="0">
              <a:lnSpc>
                <a:spcPts val="1820"/>
              </a:lnSpc>
              <a:buNone/>
            </a:pPr>
            <a:r>
              <a:rPr lang="en-US" sz="1400" b="1" dirty="0">
                <a:solidFill>
                  <a:srgbClr val="F7F6F1"/>
                </a:solidFill>
                <a:latin typeface="Public Sans" pitchFamily="34" charset="0"/>
                <a:ea typeface="Public Sans" pitchFamily="34" charset="-122"/>
                <a:cs typeface="Public Sans" pitchFamily="34" charset="-120"/>
              </a:rPr>
              <a:t>Prototype walkthrough</a:t>
            </a:r>
            <a:r>
              <a:rPr lang="en-US" sz="1400" dirty="0">
                <a:solidFill>
                  <a:srgbClr val="F7F6F1"/>
                </a:solidFill>
                <a:latin typeface="Public Sans" pitchFamily="34" charset="0"/>
                <a:ea typeface="Public Sans" pitchFamily="34" charset="-122"/>
                <a:cs typeface="Public Sans" pitchFamily="34" charset="-120"/>
              </a:rPr>
              <a:t> with 5 users (REQ-38)</a:t>
            </a:r>
            <a:endParaRPr lang="en-US" sz="1400" dirty="0"/>
          </a:p>
        </p:txBody>
      </p:sp>
      <p:sp>
        <p:nvSpPr>
          <p:cNvPr id="12" name="Text 10"/>
          <p:cNvSpPr/>
          <p:nvPr/>
        </p:nvSpPr>
        <p:spPr>
          <a:xfrm>
            <a:off x="812800" y="6238280"/>
            <a:ext cx="19926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D6"/>
                </a:solidFill>
                <a:latin typeface="Public Sans" pitchFamily="34" charset="0"/>
                <a:ea typeface="Public Sans" pitchFamily="34" charset="-122"/>
                <a:cs typeface="Public Sans" pitchFamily="34" charset="-120"/>
              </a:rPr>
              <a:t>Source: SRS section 5.1</a:t>
            </a:r>
            <a:endParaRPr lang="en-US" sz="1200" dirty="0"/>
          </a:p>
        </p:txBody>
      </p:sp>
      <p:sp>
        <p:nvSpPr>
          <p:cNvPr id="13"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6D6"/>
                </a:solidFill>
                <a:latin typeface="Public Sans" pitchFamily="34" charset="0"/>
                <a:ea typeface="Public Sans" pitchFamily="34" charset="-122"/>
                <a:cs typeface="Public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04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6F1"/>
                </a:solidFill>
                <a:latin typeface="Rubik" pitchFamily="34" charset="0"/>
                <a:ea typeface="Rubik" pitchFamily="34" charset="-122"/>
                <a:cs typeface="Rubik" pitchFamily="34" charset="-120"/>
              </a:rPr>
              <a:t>40 SMART requirements: what was fixed</a:t>
            </a:r>
            <a:endParaRPr lang="en-US" sz="3200" dirty="0"/>
          </a:p>
        </p:txBody>
      </p:sp>
      <p:sp>
        <p:nvSpPr>
          <p:cNvPr id="3" name="Shape 1"/>
          <p:cNvSpPr/>
          <p:nvPr/>
        </p:nvSpPr>
        <p:spPr>
          <a:xfrm>
            <a:off x="812800" y="1437630"/>
            <a:ext cx="2546350" cy="701030"/>
          </a:xfrm>
          <a:prstGeom prst="roundRect">
            <a:avLst>
              <a:gd name="adj" fmla="val 10870"/>
            </a:avLst>
          </a:prstGeom>
          <a:solidFill>
            <a:srgbClr val="1B2D63"/>
          </a:solidFill>
          <a:ln/>
        </p:spPr>
      </p:sp>
      <p:sp>
        <p:nvSpPr>
          <p:cNvPr id="4" name="Text 2"/>
          <p:cNvSpPr/>
          <p:nvPr/>
        </p:nvSpPr>
        <p:spPr>
          <a:xfrm>
            <a:off x="965200" y="1539230"/>
            <a:ext cx="501015"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2B544"/>
                </a:solidFill>
                <a:latin typeface="Rubik" pitchFamily="34" charset="0"/>
                <a:ea typeface="Rubik" pitchFamily="34" charset="-122"/>
                <a:cs typeface="Rubik" pitchFamily="34" charset="-120"/>
              </a:rPr>
              <a:t>18</a:t>
            </a:r>
            <a:endParaRPr lang="en-US" sz="2800" dirty="0"/>
          </a:p>
        </p:txBody>
      </p:sp>
      <p:sp>
        <p:nvSpPr>
          <p:cNvPr id="5" name="Text 3"/>
          <p:cNvSpPr/>
          <p:nvPr/>
        </p:nvSpPr>
        <p:spPr>
          <a:xfrm>
            <a:off x="1484313" y="1681460"/>
            <a:ext cx="377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5"/>
                </a:solidFill>
                <a:latin typeface="Public Sans" pitchFamily="34" charset="0"/>
                <a:ea typeface="Public Sans" pitchFamily="34" charset="-122"/>
                <a:cs typeface="Public Sans" pitchFamily="34" charset="-120"/>
              </a:rPr>
              <a:t>kept</a:t>
            </a:r>
            <a:endParaRPr lang="en-US" sz="1200" dirty="0"/>
          </a:p>
        </p:txBody>
      </p:sp>
      <p:sp>
        <p:nvSpPr>
          <p:cNvPr id="6" name="Shape 4"/>
          <p:cNvSpPr/>
          <p:nvPr/>
        </p:nvSpPr>
        <p:spPr>
          <a:xfrm>
            <a:off x="3486150" y="1437630"/>
            <a:ext cx="2546350" cy="701030"/>
          </a:xfrm>
          <a:prstGeom prst="roundRect">
            <a:avLst>
              <a:gd name="adj" fmla="val 10870"/>
            </a:avLst>
          </a:prstGeom>
          <a:solidFill>
            <a:srgbClr val="1B2D63"/>
          </a:solidFill>
          <a:ln/>
        </p:spPr>
      </p:sp>
      <p:sp>
        <p:nvSpPr>
          <p:cNvPr id="7" name="Text 5"/>
          <p:cNvSpPr/>
          <p:nvPr/>
        </p:nvSpPr>
        <p:spPr>
          <a:xfrm>
            <a:off x="3638550" y="1539230"/>
            <a:ext cx="489466"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2B544"/>
                </a:solidFill>
                <a:latin typeface="Rubik" pitchFamily="34" charset="0"/>
                <a:ea typeface="Rubik" pitchFamily="34" charset="-122"/>
                <a:cs typeface="Rubik" pitchFamily="34" charset="-120"/>
              </a:rPr>
              <a:t>12</a:t>
            </a:r>
            <a:endParaRPr lang="en-US" sz="2800" dirty="0"/>
          </a:p>
        </p:txBody>
      </p:sp>
      <p:sp>
        <p:nvSpPr>
          <p:cNvPr id="8" name="Text 6"/>
          <p:cNvSpPr/>
          <p:nvPr/>
        </p:nvSpPr>
        <p:spPr>
          <a:xfrm>
            <a:off x="4148038" y="1681460"/>
            <a:ext cx="4302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5"/>
                </a:solidFill>
                <a:latin typeface="Public Sans" pitchFamily="34" charset="0"/>
                <a:ea typeface="Public Sans" pitchFamily="34" charset="-122"/>
                <a:cs typeface="Public Sans" pitchFamily="34" charset="-120"/>
              </a:rPr>
              <a:t>fixed</a:t>
            </a:r>
            <a:endParaRPr lang="en-US" sz="1200" dirty="0"/>
          </a:p>
        </p:txBody>
      </p:sp>
      <p:sp>
        <p:nvSpPr>
          <p:cNvPr id="9" name="Shape 7"/>
          <p:cNvSpPr/>
          <p:nvPr/>
        </p:nvSpPr>
        <p:spPr>
          <a:xfrm>
            <a:off x="6159500" y="1437630"/>
            <a:ext cx="2546350" cy="701030"/>
          </a:xfrm>
          <a:prstGeom prst="roundRect">
            <a:avLst>
              <a:gd name="adj" fmla="val 10870"/>
            </a:avLst>
          </a:prstGeom>
          <a:solidFill>
            <a:srgbClr val="1B2D63"/>
          </a:solidFill>
          <a:ln/>
        </p:spPr>
      </p:sp>
      <p:sp>
        <p:nvSpPr>
          <p:cNvPr id="10" name="Text 8"/>
          <p:cNvSpPr/>
          <p:nvPr/>
        </p:nvSpPr>
        <p:spPr>
          <a:xfrm>
            <a:off x="6311900" y="1539230"/>
            <a:ext cx="278755"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2B544"/>
                </a:solidFill>
                <a:latin typeface="Rubik" pitchFamily="34" charset="0"/>
                <a:ea typeface="Rubik" pitchFamily="34" charset="-122"/>
                <a:cs typeface="Rubik" pitchFamily="34" charset="-120"/>
              </a:rPr>
              <a:t>9</a:t>
            </a:r>
            <a:endParaRPr lang="en-US" sz="2800" dirty="0"/>
          </a:p>
        </p:txBody>
      </p:sp>
      <p:sp>
        <p:nvSpPr>
          <p:cNvPr id="11" name="Text 9"/>
          <p:cNvSpPr/>
          <p:nvPr/>
        </p:nvSpPr>
        <p:spPr>
          <a:xfrm>
            <a:off x="6641455" y="1681460"/>
            <a:ext cx="5320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5"/>
                </a:solidFill>
                <a:latin typeface="Public Sans" pitchFamily="34" charset="0"/>
                <a:ea typeface="Public Sans" pitchFamily="34" charset="-122"/>
                <a:cs typeface="Public Sans" pitchFamily="34" charset="-120"/>
              </a:rPr>
              <a:t>added</a:t>
            </a:r>
            <a:endParaRPr lang="en-US" sz="1200" dirty="0"/>
          </a:p>
        </p:txBody>
      </p:sp>
      <p:sp>
        <p:nvSpPr>
          <p:cNvPr id="12" name="Shape 10"/>
          <p:cNvSpPr/>
          <p:nvPr/>
        </p:nvSpPr>
        <p:spPr>
          <a:xfrm>
            <a:off x="8832850" y="1437630"/>
            <a:ext cx="2546350" cy="701030"/>
          </a:xfrm>
          <a:prstGeom prst="roundRect">
            <a:avLst>
              <a:gd name="adj" fmla="val 10870"/>
            </a:avLst>
          </a:prstGeom>
          <a:solidFill>
            <a:srgbClr val="1B2D63"/>
          </a:solidFill>
          <a:ln/>
        </p:spPr>
      </p:sp>
      <p:sp>
        <p:nvSpPr>
          <p:cNvPr id="13" name="Text 11"/>
          <p:cNvSpPr/>
          <p:nvPr/>
        </p:nvSpPr>
        <p:spPr>
          <a:xfrm>
            <a:off x="8985250" y="1539230"/>
            <a:ext cx="227558"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2B544"/>
                </a:solidFill>
                <a:latin typeface="Rubik" pitchFamily="34" charset="0"/>
                <a:ea typeface="Rubik" pitchFamily="34" charset="-122"/>
                <a:cs typeface="Rubik" pitchFamily="34" charset="-120"/>
              </a:rPr>
              <a:t>1</a:t>
            </a:r>
            <a:endParaRPr lang="en-US" sz="2800" dirty="0"/>
          </a:p>
        </p:txBody>
      </p:sp>
      <p:sp>
        <p:nvSpPr>
          <p:cNvPr id="14" name="Text 12"/>
          <p:cNvSpPr/>
          <p:nvPr/>
        </p:nvSpPr>
        <p:spPr>
          <a:xfrm>
            <a:off x="9263608" y="1681460"/>
            <a:ext cx="3723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5"/>
                </a:solidFill>
                <a:latin typeface="Public Sans" pitchFamily="34" charset="0"/>
                <a:ea typeface="Public Sans" pitchFamily="34" charset="-122"/>
                <a:cs typeface="Public Sans" pitchFamily="34" charset="-120"/>
              </a:rPr>
              <a:t>split</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25500" y="2329160"/>
          <a:ext cx="10553700" cy="1996083"/>
        </p:xfrm>
        <a:graphic>
          <a:graphicData uri="http://schemas.openxmlformats.org/drawingml/2006/table">
            <a:tbl>
              <a:tblPr/>
              <a:tblGrid>
                <a:gridCol w="1160907"/>
                <a:gridCol w="3166110"/>
                <a:gridCol w="2110740"/>
                <a:gridCol w="4115943"/>
              </a:tblGrid>
              <a:tr h="332680">
                <a:tc>
                  <a:txBody>
                    <a:bodyPr/>
                    <a:lstStyle/>
                    <a:p>
                      <a:pPr indent="0" marL="0">
                        <a:lnSpc>
                          <a:spcPts val="1680"/>
                        </a:lnSpc>
                        <a:buNone/>
                      </a:pPr>
                      <a:r>
                        <a:rPr lang="en-US" sz="1200" b="1" dirty="0">
                          <a:solidFill>
                            <a:srgbClr val="F7F6F1"/>
                          </a:solidFill>
                          <a:latin typeface="Public Sans" pitchFamily="34" charset="0"/>
                          <a:ea typeface="Public Sans" pitchFamily="34" charset="-122"/>
                          <a:cs typeface="Public Sans" pitchFamily="34" charset="-120"/>
                        </a:rPr>
                        <a:t>ID</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55070"/>
                      </a:solidFill>
                      <a:prstDash val="solid"/>
                      <a:round/>
                      <a:headEnd type="none" w="med" len="med"/>
                      <a:tailEnd type="none" w="med" len="med"/>
                    </a:lnL>
                    <a:lnR w="12700" cap="flat" cmpd="sng" algn="ctr">
                      <a:solidFill>
                        <a:srgbClr val="545D7B"/>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545D7B"/>
                      </a:solidFill>
                      <a:prstDash val="solid"/>
                      <a:round/>
                      <a:headEnd type="none" w="med" len="med"/>
                      <a:tailEnd type="none" w="med" len="med"/>
                    </a:lnB>
                    <a:solidFill>
                      <a:srgbClr val="253158"/>
                    </a:solidFill>
                  </a:tcPr>
                </a:tc>
                <a:tc>
                  <a:txBody>
                    <a:bodyPr/>
                    <a:lstStyle/>
                    <a:p>
                      <a:pPr indent="0" marL="0">
                        <a:lnSpc>
                          <a:spcPts val="1680"/>
                        </a:lnSpc>
                        <a:buNone/>
                      </a:pPr>
                      <a:r>
                        <a:rPr lang="en-US" sz="1200" b="1" dirty="0">
                          <a:solidFill>
                            <a:srgbClr val="F7F6F1"/>
                          </a:solidFill>
                          <a:latin typeface="Public Sans" pitchFamily="34" charset="0"/>
                          <a:ea typeface="Public Sans" pitchFamily="34" charset="-122"/>
                          <a:cs typeface="Public Sans" pitchFamily="34" charset="-120"/>
                        </a:rPr>
                        <a:t>Before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545D7B"/>
                      </a:solidFill>
                      <a:prstDash val="solid"/>
                      <a:round/>
                      <a:headEnd type="none" w="med" len="med"/>
                      <a:tailEnd type="none" w="med" len="med"/>
                    </a:lnL>
                    <a:lnR w="12700" cap="flat" cmpd="sng" algn="ctr">
                      <a:solidFill>
                        <a:srgbClr val="545D7B"/>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545D7B"/>
                      </a:solidFill>
                      <a:prstDash val="solid"/>
                      <a:round/>
                      <a:headEnd type="none" w="med" len="med"/>
                      <a:tailEnd type="none" w="med" len="med"/>
                    </a:lnB>
                    <a:solidFill>
                      <a:srgbClr val="253158"/>
                    </a:solidFill>
                  </a:tcPr>
                </a:tc>
                <a:tc>
                  <a:txBody>
                    <a:bodyPr/>
                    <a:lstStyle/>
                    <a:p>
                      <a:pPr indent="0" marL="0">
                        <a:lnSpc>
                          <a:spcPts val="1680"/>
                        </a:lnSpc>
                        <a:buNone/>
                      </a:pPr>
                      <a:r>
                        <a:rPr lang="en-US" sz="1200" b="1" dirty="0">
                          <a:solidFill>
                            <a:srgbClr val="F7F6F1"/>
                          </a:solidFill>
                          <a:latin typeface="Public Sans" pitchFamily="34" charset="0"/>
                          <a:ea typeface="Public Sans" pitchFamily="34" charset="-122"/>
                          <a:cs typeface="Public Sans" pitchFamily="34" charset="-120"/>
                        </a:rPr>
                        <a:t>Problem</a:t>
                      </a:r>
                      <a:endParaRPr lang="en-US" sz="1200" dirty="0">
                        <a:latin typeface="Public Sans" charset="0"/>
                        <a:ea typeface="Public Sans" charset="0"/>
                        <a:cs typeface="Public Sans" charset="0"/>
                      </a:endParaRPr>
                    </a:p>
                  </a:txBody>
                  <a:tcPr marL="53340" marR="53340" marT="53340" marB="53340" anchor="t">
                    <a:lnL w="12700" cap="flat" cmpd="sng" algn="ctr">
                      <a:solidFill>
                        <a:srgbClr val="545D7B"/>
                      </a:solidFill>
                      <a:prstDash val="solid"/>
                      <a:round/>
                      <a:headEnd type="none" w="med" len="med"/>
                      <a:tailEnd type="none" w="med" len="med"/>
                    </a:lnL>
                    <a:lnR w="12700" cap="flat" cmpd="sng" algn="ctr">
                      <a:solidFill>
                        <a:srgbClr val="545D7B"/>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545D7B"/>
                      </a:solidFill>
                      <a:prstDash val="solid"/>
                      <a:round/>
                      <a:headEnd type="none" w="med" len="med"/>
                      <a:tailEnd type="none" w="med" len="med"/>
                    </a:lnB>
                    <a:solidFill>
                      <a:srgbClr val="253158"/>
                    </a:solidFill>
                  </a:tcPr>
                </a:tc>
                <a:tc>
                  <a:txBody>
                    <a:bodyPr/>
                    <a:lstStyle/>
                    <a:p>
                      <a:pPr indent="0" marL="0">
                        <a:lnSpc>
                          <a:spcPts val="1680"/>
                        </a:lnSpc>
                        <a:buNone/>
                      </a:pPr>
                      <a:r>
                        <a:rPr lang="en-US" sz="1200" b="1" dirty="0">
                          <a:solidFill>
                            <a:srgbClr val="F7F6F1"/>
                          </a:solidFill>
                          <a:latin typeface="Public Sans" pitchFamily="34" charset="0"/>
                          <a:ea typeface="Public Sans" pitchFamily="34" charset="-122"/>
                          <a:cs typeface="Public Sans" pitchFamily="34" charset="-120"/>
                        </a:rPr>
                        <a:t>After</a:t>
                      </a:r>
                      <a:endParaRPr lang="en-US" sz="1200" dirty="0">
                        <a:latin typeface="Public Sans" charset="0"/>
                        <a:ea typeface="Public Sans" charset="0"/>
                        <a:cs typeface="Public Sans" charset="0"/>
                      </a:endParaRPr>
                    </a:p>
                  </a:txBody>
                  <a:tcPr marL="53340" marR="53340" marT="53340" marB="53340" anchor="t">
                    <a:lnL w="12700" cap="flat" cmpd="sng" algn="ctr">
                      <a:solidFill>
                        <a:srgbClr val="545D7B"/>
                      </a:solidFill>
                      <a:prstDash val="solid"/>
                      <a:round/>
                      <a:headEnd type="none" w="med" len="med"/>
                      <a:tailEnd type="none" w="med" len="med"/>
                    </a:lnL>
                    <a:lnR w="12700" cap="flat" cmpd="sng" algn="ctr">
                      <a:solidFill>
                        <a:srgbClr val="545D7B"/>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545D7B"/>
                      </a:solidFill>
                      <a:prstDash val="solid"/>
                      <a:round/>
                      <a:headEnd type="none" w="med" len="med"/>
                      <a:tailEnd type="none" w="med" len="med"/>
                    </a:lnB>
                    <a:solidFill>
                      <a:srgbClr val="253158"/>
                    </a:solidFill>
                  </a:tcPr>
                </a:tc>
              </a:tr>
              <a:tr h="332680">
                <a:tc>
                  <a:txBody>
                    <a:bodyPr/>
                    <a:lstStyle/>
                    <a:p>
                      <a:pPr indent="0" marL="0">
                        <a:lnSpc>
                          <a:spcPts val="1680"/>
                        </a:lnSpc>
                        <a:buNone/>
                      </a:pPr>
                      <a:r>
                        <a:rPr lang="en-US" sz="1200" dirty="0">
                          <a:solidFill>
                            <a:srgbClr val="F7F6F1"/>
                          </a:solidFill>
                          <a:latin typeface="Public Sans" pitchFamily="34" charset="0"/>
                          <a:ea typeface="Public Sans" pitchFamily="34" charset="-122"/>
                          <a:cs typeface="Public Sans" pitchFamily="34" charset="-120"/>
                        </a:rPr>
                        <a:t>REQ-16</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545D7B"/>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680"/>
                        </a:lnSpc>
                        <a:buNone/>
                      </a:pPr>
                      <a:r>
                        <a:rPr lang="en-US" sz="1200" dirty="0">
                          <a:solidFill>
                            <a:srgbClr val="F7F6F1"/>
                          </a:solidFill>
                          <a:latin typeface="Public Sans" pitchFamily="34" charset="0"/>
                          <a:ea typeface="Public Sans" pitchFamily="34" charset="-122"/>
                          <a:cs typeface="Public Sans" pitchFamily="34" charset="-120"/>
                        </a:rPr>
                        <a:t>Confirmation shown immediately</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545D7B"/>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680"/>
                        </a:lnSpc>
                        <a:buNone/>
                      </a:pPr>
                      <a:r>
                        <a:rPr lang="en-US" sz="1200" dirty="0">
                          <a:solidFill>
                            <a:srgbClr val="F7F6F1"/>
                          </a:solidFill>
                          <a:latin typeface="Public Sans" pitchFamily="34" charset="0"/>
                          <a:ea typeface="Public Sans" pitchFamily="34" charset="-122"/>
                          <a:cs typeface="Public Sans" pitchFamily="34" charset="-120"/>
                        </a:rPr>
                        <a:t>Not measurable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545D7B"/>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680"/>
                        </a:lnSpc>
                        <a:buNone/>
                      </a:pPr>
                      <a:r>
                        <a:rPr lang="en-US" sz="1200" dirty="0">
                          <a:solidFill>
                            <a:srgbClr val="F7F6F1"/>
                          </a:solidFill>
                          <a:latin typeface="Public Sans" pitchFamily="34" charset="0"/>
                          <a:ea typeface="Public Sans" pitchFamily="34" charset="-122"/>
                          <a:cs typeface="Public Sans" pitchFamily="34" charset="-120"/>
                        </a:rPr>
                        <a:t>Confirmation within 2 seconds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545D7B"/>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r>
              <a:tr h="332680">
                <a:tc>
                  <a:txBody>
                    <a:bodyPr/>
                    <a:lstStyle/>
                    <a:p>
                      <a:pPr indent="0" marL="0">
                        <a:lnSpc>
                          <a:spcPts val="1680"/>
                        </a:lnSpc>
                        <a:buNone/>
                      </a:pPr>
                      <a:r>
                        <a:rPr lang="en-US" sz="1200" dirty="0">
                          <a:solidFill>
                            <a:srgbClr val="F7F6F1"/>
                          </a:solidFill>
                          <a:latin typeface="Public Sans" pitchFamily="34" charset="0"/>
                          <a:ea typeface="Public Sans" pitchFamily="34" charset="-122"/>
                          <a:cs typeface="Public Sans" pitchFamily="34" charset="-120"/>
                        </a:rPr>
                        <a:t>REQ-20</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680"/>
                        </a:lnSpc>
                        <a:buNone/>
                      </a:pPr>
                      <a:r>
                        <a:rPr lang="en-US" sz="1200" dirty="0">
                          <a:solidFill>
                            <a:srgbClr val="F7F6F1"/>
                          </a:solidFill>
                          <a:latin typeface="Public Sans" pitchFamily="34" charset="0"/>
                          <a:ea typeface="Public Sans" pitchFamily="34" charset="-122"/>
                          <a:cs typeface="Public Sans" pitchFamily="34" charset="-120"/>
                        </a:rPr>
                        <a:t>Push or SMS within 5 minutes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680"/>
                        </a:lnSpc>
                        <a:buNone/>
                      </a:pPr>
                      <a:r>
                        <a:rPr lang="en-US" sz="1200" dirty="0">
                          <a:solidFill>
                            <a:srgbClr val="F7F6F1"/>
                          </a:solidFill>
                          <a:latin typeface="Public Sans" pitchFamily="34" charset="0"/>
                          <a:ea typeface="Public Sans" pitchFamily="34" charset="-122"/>
                          <a:cs typeface="Public Sans" pitchFamily="34" charset="-120"/>
                        </a:rPr>
                        <a:t>Differs from Lab 4</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680"/>
                        </a:lnSpc>
                        <a:buNone/>
                      </a:pPr>
                      <a:r>
                        <a:rPr lang="en-US" sz="1200" dirty="0">
                          <a:solidFill>
                            <a:srgbClr val="F7F6F1"/>
                          </a:solidFill>
                          <a:latin typeface="Public Sans" pitchFamily="34" charset="0"/>
                          <a:ea typeface="Public Sans" pitchFamily="34" charset="-122"/>
                          <a:cs typeface="Public Sans" pitchFamily="34" charset="-120"/>
                        </a:rPr>
                        <a:t>Push within 2 minutes; SMS within 5 if not delivered</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r>
              <a:tr h="332680">
                <a:tc>
                  <a:txBody>
                    <a:bodyPr/>
                    <a:lstStyle/>
                    <a:p>
                      <a:pPr indent="0" marL="0">
                        <a:lnSpc>
                          <a:spcPts val="1680"/>
                        </a:lnSpc>
                        <a:buNone/>
                      </a:pPr>
                      <a:r>
                        <a:rPr lang="en-US" sz="1200" dirty="0">
                          <a:solidFill>
                            <a:srgbClr val="F7F6F1"/>
                          </a:solidFill>
                          <a:latin typeface="Public Sans" pitchFamily="34" charset="0"/>
                          <a:ea typeface="Public Sans" pitchFamily="34" charset="-122"/>
                          <a:cs typeface="Public Sans" pitchFamily="34" charset="-120"/>
                        </a:rPr>
                        <a:t>REQ-29</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680"/>
                        </a:lnSpc>
                        <a:buNone/>
                      </a:pPr>
                      <a:r>
                        <a:rPr lang="en-US" sz="1200" dirty="0">
                          <a:solidFill>
                            <a:srgbClr val="F7F6F1"/>
                          </a:solidFill>
                          <a:latin typeface="Public Sans" pitchFamily="34" charset="0"/>
                          <a:ea typeface="Public Sans" pitchFamily="34" charset="-122"/>
                          <a:cs typeface="Public Sans" pitchFamily="34" charset="-120"/>
                        </a:rPr>
                        <a:t>99% availability in school hours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680"/>
                        </a:lnSpc>
                        <a:buNone/>
                      </a:pPr>
                      <a:r>
                        <a:rPr lang="en-US" sz="1200" dirty="0">
                          <a:solidFill>
                            <a:srgbClr val="F7F6F1"/>
                          </a:solidFill>
                          <a:latin typeface="Public Sans" pitchFamily="34" charset="0"/>
                          <a:ea typeface="Public Sans" pitchFamily="34" charset="-122"/>
                          <a:cs typeface="Public Sans" pitchFamily="34" charset="-120"/>
                        </a:rPr>
                        <a:t>No period</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680"/>
                        </a:lnSpc>
                        <a:buNone/>
                      </a:pPr>
                      <a:r>
                        <a:rPr lang="en-US" sz="1200" dirty="0">
                          <a:solidFill>
                            <a:srgbClr val="F7F6F1"/>
                          </a:solidFill>
                          <a:latin typeface="Public Sans" pitchFamily="34" charset="0"/>
                          <a:ea typeface="Public Sans" pitchFamily="34" charset="-122"/>
                          <a:cs typeface="Public Sans" pitchFamily="34" charset="-120"/>
                        </a:rPr>
                        <a:t>99% of school-hour minutes each month</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r>
              <a:tr h="332680">
                <a:tc>
                  <a:txBody>
                    <a:bodyPr/>
                    <a:lstStyle/>
                    <a:p>
                      <a:pPr indent="0" marL="0">
                        <a:lnSpc>
                          <a:spcPts val="1680"/>
                        </a:lnSpc>
                        <a:buNone/>
                      </a:pPr>
                      <a:r>
                        <a:rPr lang="en-US" sz="1200" dirty="0">
                          <a:solidFill>
                            <a:srgbClr val="F7F6F1"/>
                          </a:solidFill>
                          <a:latin typeface="Public Sans" pitchFamily="34" charset="0"/>
                          <a:ea typeface="Public Sans" pitchFamily="34" charset="-122"/>
                          <a:cs typeface="Public Sans" pitchFamily="34" charset="-120"/>
                        </a:rPr>
                        <a:t>REQ-30</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680"/>
                        </a:lnSpc>
                        <a:buNone/>
                      </a:pPr>
                      <a:r>
                        <a:rPr lang="en-US" sz="1200" dirty="0">
                          <a:solidFill>
                            <a:srgbClr val="F7F6F1"/>
                          </a:solidFill>
                          <a:latin typeface="Public Sans" pitchFamily="34" charset="0"/>
                          <a:ea typeface="Public Sans" pitchFamily="34" charset="-122"/>
                          <a:cs typeface="Public Sans" pitchFamily="34" charset="-120"/>
                        </a:rPr>
                        <a:t>1,000 users, under 3 seconds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680"/>
                        </a:lnSpc>
                        <a:buNone/>
                      </a:pPr>
                      <a:r>
                        <a:rPr lang="en-US" sz="1200" dirty="0">
                          <a:solidFill>
                            <a:srgbClr val="F7F6F1"/>
                          </a:solidFill>
                          <a:latin typeface="Public Sans" pitchFamily="34" charset="0"/>
                          <a:ea typeface="Public Sans" pitchFamily="34" charset="-122"/>
                          <a:cs typeface="Public Sans" pitchFamily="34" charset="-120"/>
                        </a:rPr>
                        <a:t>Which responses?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680"/>
                        </a:lnSpc>
                        <a:buNone/>
                      </a:pPr>
                      <a:r>
                        <a:rPr lang="en-US" sz="1200" dirty="0">
                          <a:solidFill>
                            <a:srgbClr val="F7F6F1"/>
                          </a:solidFill>
                          <a:latin typeface="Public Sans" pitchFamily="34" charset="0"/>
                          <a:ea typeface="Public Sans" pitchFamily="34" charset="-122"/>
                          <a:cs typeface="Public Sans" pitchFamily="34" charset="-120"/>
                        </a:rPr>
                        <a:t>At least 95% of responses under 3 seconds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r>
              <a:tr h="332680">
                <a:tc>
                  <a:txBody>
                    <a:bodyPr/>
                    <a:lstStyle/>
                    <a:p>
                      <a:pPr indent="0" marL="0">
                        <a:lnSpc>
                          <a:spcPts val="1680"/>
                        </a:lnSpc>
                        <a:buNone/>
                      </a:pPr>
                      <a:r>
                        <a:rPr lang="en-US" sz="1200" dirty="0">
                          <a:solidFill>
                            <a:srgbClr val="F7F6F1"/>
                          </a:solidFill>
                          <a:latin typeface="Public Sans" pitchFamily="34" charset="0"/>
                          <a:ea typeface="Public Sans" pitchFamily="34" charset="-122"/>
                          <a:cs typeface="Public Sans" pitchFamily="34" charset="-120"/>
                        </a:rPr>
                        <a:t>REQ-28</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680"/>
                        </a:lnSpc>
                        <a:buNone/>
                      </a:pPr>
                      <a:r>
                        <a:rPr lang="en-US" sz="1200" dirty="0">
                          <a:solidFill>
                            <a:srgbClr val="F7F6F1"/>
                          </a:solidFill>
                          <a:latin typeface="Public Sans" pitchFamily="34" charset="0"/>
                          <a:ea typeface="Public Sans" pitchFamily="34" charset="-122"/>
                          <a:cs typeface="Public Sans" pitchFamily="34" charset="-120"/>
                        </a:rPr>
                        <a:t>Logging and lockout together</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680"/>
                        </a:lnSpc>
                        <a:buNone/>
                      </a:pPr>
                      <a:r>
                        <a:rPr lang="en-US" sz="1200" dirty="0">
                          <a:solidFill>
                            <a:srgbClr val="F7F6F1"/>
                          </a:solidFill>
                          <a:latin typeface="Public Sans" pitchFamily="34" charset="0"/>
                          <a:ea typeface="Public Sans" pitchFamily="34" charset="-122"/>
                          <a:cs typeface="Public Sans" pitchFamily="34" charset="-120"/>
                        </a:rPr>
                        <a:t>Two needs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c>
                  <a:txBody>
                    <a:bodyPr/>
                    <a:lstStyle/>
                    <a:p>
                      <a:pPr indent="0" marL="0">
                        <a:lnSpc>
                          <a:spcPts val="1680"/>
                        </a:lnSpc>
                        <a:buNone/>
                      </a:pPr>
                      <a:r>
                        <a:rPr lang="en-US" sz="1200" dirty="0">
                          <a:solidFill>
                            <a:srgbClr val="F7F6F1"/>
                          </a:solidFill>
                          <a:latin typeface="Public Sans" pitchFamily="34" charset="0"/>
                          <a:ea typeface="Public Sans" pitchFamily="34" charset="-122"/>
                          <a:cs typeface="Public Sans" pitchFamily="34" charset="-120"/>
                        </a:rPr>
                        <a:t>Logging stays; lockout becomes REQ-40</a:t>
                      </a:r>
                      <a:endParaRPr lang="en-US" sz="1200" dirty="0">
                        <a:latin typeface="Public Sans" charset="0"/>
                        <a:ea typeface="Public Sans" charset="0"/>
                        <a:cs typeface="Public Sans" charset="0"/>
                      </a:endParaRPr>
                    </a:p>
                  </a:txBody>
                  <a:tcPr marL="53340" marR="53340" marT="53340" marB="53340" anchor="t">
                    <a:lnL w="12700" cap="flat" cmpd="sng" algn="ctr">
                      <a:solidFill>
                        <a:srgbClr val="455070"/>
                      </a:solidFill>
                      <a:prstDash val="solid"/>
                      <a:round/>
                      <a:headEnd type="none" w="med" len="med"/>
                      <a:tailEnd type="none" w="med" len="med"/>
                    </a:lnL>
                    <a:lnR w="12700" cap="flat" cmpd="sng" algn="ctr">
                      <a:solidFill>
                        <a:srgbClr val="455070"/>
                      </a:solidFill>
                      <a:prstDash val="solid"/>
                      <a:round/>
                      <a:headEnd type="none" w="med" len="med"/>
                      <a:tailEnd type="none" w="med" len="med"/>
                    </a:lnR>
                    <a:lnT w="12700" cap="flat" cmpd="sng" algn="ctr">
                      <a:solidFill>
                        <a:srgbClr val="455070"/>
                      </a:solidFill>
                      <a:prstDash val="solid"/>
                      <a:round/>
                      <a:headEnd type="none" w="med" len="med"/>
                      <a:tailEnd type="none" w="med" len="med"/>
                    </a:lnT>
                    <a:lnB w="12700" cap="flat" cmpd="sng" algn="ctr">
                      <a:solidFill>
                        <a:srgbClr val="455070"/>
                      </a:solidFill>
                      <a:prstDash val="solid"/>
                      <a:round/>
                      <a:headEnd type="none" w="med" len="med"/>
                      <a:tailEnd type="none" w="med" len="med"/>
                    </a:lnB>
                  </a:tcPr>
                </a:tc>
              </a:tr>
            </a:tbl>
          </a:graphicData>
        </a:graphic>
      </p:graphicFrame>
      <p:sp>
        <p:nvSpPr>
          <p:cNvPr id="16" name="Text 13"/>
          <p:cNvSpPr/>
          <p:nvPr/>
        </p:nvSpPr>
        <p:spPr>
          <a:xfrm>
            <a:off x="812800" y="4503043"/>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A"/>
                </a:solidFill>
                <a:latin typeface="Public Sans" pitchFamily="34" charset="0"/>
                <a:ea typeface="Public Sans" pitchFamily="34" charset="-122"/>
                <a:cs typeface="Public Sans" pitchFamily="34" charset="-120"/>
              </a:rPr>
              <a:t>36 functional and 4 non-functional. Rule everywhere: replace "immediately" and "real time" with a number.</a:t>
            </a:r>
            <a:endParaRPr lang="en-US" sz="1300" dirty="0"/>
          </a:p>
        </p:txBody>
      </p:sp>
      <p:sp>
        <p:nvSpPr>
          <p:cNvPr id="17" name="Text 14"/>
          <p:cNvSpPr/>
          <p:nvPr/>
        </p:nvSpPr>
        <p:spPr>
          <a:xfrm>
            <a:off x="812800" y="6238280"/>
            <a:ext cx="28011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D6"/>
                </a:solidFill>
                <a:latin typeface="Public Sans" pitchFamily="34" charset="0"/>
                <a:ea typeface="Public Sans" pitchFamily="34" charset="-122"/>
                <a:cs typeface="Public Sans" pitchFamily="34" charset="-120"/>
              </a:rPr>
              <a:t>Source: SRS sections 5.3 and 5.4</a:t>
            </a:r>
            <a:endParaRPr lang="en-US" sz="1200" dirty="0"/>
          </a:p>
        </p:txBody>
      </p:sp>
      <p:sp>
        <p:nvSpPr>
          <p:cNvPr id="18"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6D6"/>
                </a:solidFill>
                <a:latin typeface="Public Sans" pitchFamily="34" charset="0"/>
                <a:ea typeface="Public Sans" pitchFamily="34" charset="-122"/>
                <a:cs typeface="Public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4A"/>
                </a:solidFill>
                <a:latin typeface="Rubik" pitchFamily="34" charset="0"/>
                <a:ea typeface="Rubik" pitchFamily="34" charset="-122"/>
                <a:cs typeface="Rubik" pitchFamily="34" charset="-120"/>
              </a:rPr>
              <a:t>Use case titles: 18 in total</a:t>
            </a:r>
            <a:endParaRPr lang="en-US" sz="3200" dirty="0"/>
          </a:p>
        </p:txBody>
      </p:sp>
      <p:sp>
        <p:nvSpPr>
          <p:cNvPr id="3" name="Shape 1"/>
          <p:cNvSpPr/>
          <p:nvPr/>
        </p:nvSpPr>
        <p:spPr>
          <a:xfrm>
            <a:off x="812800" y="1488430"/>
            <a:ext cx="7078117" cy="3223121"/>
          </a:xfrm>
          <a:prstGeom prst="roundRect">
            <a:avLst>
              <a:gd name="adj" fmla="val 3152"/>
            </a:avLst>
          </a:prstGeom>
          <a:solidFill>
            <a:srgbClr val="12204A"/>
          </a:solidFill>
          <a:ln/>
        </p:spPr>
      </p:sp>
      <p:sp>
        <p:nvSpPr>
          <p:cNvPr id="4" name="Text 2"/>
          <p:cNvSpPr/>
          <p:nvPr/>
        </p:nvSpPr>
        <p:spPr>
          <a:xfrm>
            <a:off x="1016000" y="1691630"/>
            <a:ext cx="687186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B544"/>
                </a:solidFill>
                <a:latin typeface="Public Sans" pitchFamily="34" charset="0"/>
                <a:ea typeface="Public Sans" pitchFamily="34" charset="-122"/>
                <a:cs typeface="Public Sans" pitchFamily="34" charset="-120"/>
              </a:rPr>
              <a:t>Must (12)</a:t>
            </a:r>
            <a:endParaRPr lang="en-US" sz="1600" dirty="0"/>
          </a:p>
        </p:txBody>
      </p:sp>
      <p:sp>
        <p:nvSpPr>
          <p:cNvPr id="5" name="Text 3"/>
          <p:cNvSpPr/>
          <p:nvPr/>
        </p:nvSpPr>
        <p:spPr>
          <a:xfrm>
            <a:off x="1016000" y="2037060"/>
            <a:ext cx="3331261"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7F6F1"/>
                </a:solidFill>
                <a:latin typeface="Public Sans" pitchFamily="34" charset="0"/>
                <a:ea typeface="Public Sans" pitchFamily="34" charset="-122"/>
                <a:cs typeface="Public Sans" pitchFamily="34" charset="-120"/>
              </a:rPr>
              <a:t>UC1 Log In</a:t>
            </a:r>
            <a:endParaRPr lang="en-US" sz="1300" dirty="0"/>
          </a:p>
        </p:txBody>
      </p:sp>
      <p:sp>
        <p:nvSpPr>
          <p:cNvPr id="6" name="Text 4"/>
          <p:cNvSpPr/>
          <p:nvPr/>
        </p:nvSpPr>
        <p:spPr>
          <a:xfrm>
            <a:off x="1016000" y="2302470"/>
            <a:ext cx="3331261"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7F6F1"/>
                </a:solidFill>
                <a:latin typeface="Public Sans" pitchFamily="34" charset="0"/>
                <a:ea typeface="Public Sans" pitchFamily="34" charset="-122"/>
                <a:cs typeface="Public Sans" pitchFamily="34" charset="-120"/>
              </a:rPr>
              <a:t>UC2 Record Attendance</a:t>
            </a:r>
            <a:endParaRPr lang="en-US" sz="1300" dirty="0"/>
          </a:p>
        </p:txBody>
      </p:sp>
      <p:sp>
        <p:nvSpPr>
          <p:cNvPr id="7" name="Text 5"/>
          <p:cNvSpPr/>
          <p:nvPr/>
        </p:nvSpPr>
        <p:spPr>
          <a:xfrm>
            <a:off x="1016000" y="2567880"/>
            <a:ext cx="3331261"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7F6F1"/>
                </a:solidFill>
                <a:latin typeface="Public Sans" pitchFamily="34" charset="0"/>
                <a:ea typeface="Public Sans" pitchFamily="34" charset="-122"/>
                <a:cs typeface="Public Sans" pitchFamily="34" charset="-120"/>
              </a:rPr>
              <a:t>UC3 Notify Parent of Absence</a:t>
            </a:r>
            <a:endParaRPr lang="en-US" sz="1300" dirty="0"/>
          </a:p>
        </p:txBody>
      </p:sp>
      <p:sp>
        <p:nvSpPr>
          <p:cNvPr id="8" name="Text 6"/>
          <p:cNvSpPr/>
          <p:nvPr/>
        </p:nvSpPr>
        <p:spPr>
          <a:xfrm>
            <a:off x="1016000" y="2833291"/>
            <a:ext cx="3331261"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7F6F1"/>
                </a:solidFill>
                <a:latin typeface="Public Sans" pitchFamily="34" charset="0"/>
                <a:ea typeface="Public Sans" pitchFamily="34" charset="-122"/>
                <a:cs typeface="Public Sans" pitchFamily="34" charset="-120"/>
              </a:rPr>
              <a:t>UC4 Enter Grades</a:t>
            </a:r>
            <a:endParaRPr lang="en-US" sz="1300" dirty="0"/>
          </a:p>
        </p:txBody>
      </p:sp>
      <p:sp>
        <p:nvSpPr>
          <p:cNvPr id="9" name="Text 7"/>
          <p:cNvSpPr/>
          <p:nvPr/>
        </p:nvSpPr>
        <p:spPr>
          <a:xfrm>
            <a:off x="1016000" y="3098701"/>
            <a:ext cx="3331261"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7F6F1"/>
                </a:solidFill>
                <a:latin typeface="Public Sans" pitchFamily="34" charset="0"/>
                <a:ea typeface="Public Sans" pitchFamily="34" charset="-122"/>
                <a:cs typeface="Public Sans" pitchFamily="34" charset="-120"/>
              </a:rPr>
              <a:t>UC5 Post Assignment</a:t>
            </a:r>
            <a:endParaRPr lang="en-US" sz="1300" dirty="0"/>
          </a:p>
        </p:txBody>
      </p:sp>
      <p:sp>
        <p:nvSpPr>
          <p:cNvPr id="10" name="Text 8"/>
          <p:cNvSpPr/>
          <p:nvPr/>
        </p:nvSpPr>
        <p:spPr>
          <a:xfrm>
            <a:off x="1016000" y="3364111"/>
            <a:ext cx="3331261"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7F6F1"/>
                </a:solidFill>
                <a:latin typeface="Public Sans" pitchFamily="34" charset="0"/>
                <a:ea typeface="Public Sans" pitchFamily="34" charset="-122"/>
                <a:cs typeface="Public Sans" pitchFamily="34" charset="-120"/>
              </a:rPr>
              <a:t>UC6 Submit Assignment</a:t>
            </a:r>
            <a:endParaRPr lang="en-US" sz="1300" dirty="0"/>
          </a:p>
        </p:txBody>
      </p:sp>
      <p:sp>
        <p:nvSpPr>
          <p:cNvPr id="11" name="Text 9"/>
          <p:cNvSpPr/>
          <p:nvPr/>
        </p:nvSpPr>
        <p:spPr>
          <a:xfrm>
            <a:off x="4453434" y="2037060"/>
            <a:ext cx="3331312"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7F6F1"/>
                </a:solidFill>
                <a:latin typeface="Public Sans" pitchFamily="34" charset="0"/>
                <a:ea typeface="Public Sans" pitchFamily="34" charset="-122"/>
                <a:cs typeface="Public Sans" pitchFamily="34" charset="-120"/>
              </a:rPr>
              <a:t>UC8 View Grades and Attendance</a:t>
            </a:r>
            <a:endParaRPr lang="en-US" sz="1300" dirty="0"/>
          </a:p>
        </p:txBody>
      </p:sp>
      <p:sp>
        <p:nvSpPr>
          <p:cNvPr id="12" name="Text 10"/>
          <p:cNvSpPr/>
          <p:nvPr/>
        </p:nvSpPr>
        <p:spPr>
          <a:xfrm>
            <a:off x="4453434" y="2302470"/>
            <a:ext cx="3331312"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7F6F1"/>
                </a:solidFill>
                <a:latin typeface="Public Sans" pitchFamily="34" charset="0"/>
                <a:ea typeface="Public Sans" pitchFamily="34" charset="-122"/>
                <a:cs typeface="Public Sans" pitchFamily="34" charset="-120"/>
              </a:rPr>
              <a:t>UC9 Pay Fees Online</a:t>
            </a:r>
            <a:endParaRPr lang="en-US" sz="1300" dirty="0"/>
          </a:p>
        </p:txBody>
      </p:sp>
      <p:sp>
        <p:nvSpPr>
          <p:cNvPr id="13" name="Text 11"/>
          <p:cNvSpPr/>
          <p:nvPr/>
        </p:nvSpPr>
        <p:spPr>
          <a:xfrm>
            <a:off x="4453434" y="2567880"/>
            <a:ext cx="3331312"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7F6F1"/>
                </a:solidFill>
                <a:latin typeface="Public Sans" pitchFamily="34" charset="0"/>
                <a:ea typeface="Public Sans" pitchFamily="34" charset="-122"/>
                <a:cs typeface="Public Sans" pitchFamily="34" charset="-120"/>
              </a:rPr>
              <a:t>UC10 Track Fee Payments</a:t>
            </a:r>
            <a:endParaRPr lang="en-US" sz="1300" dirty="0"/>
          </a:p>
        </p:txBody>
      </p:sp>
      <p:sp>
        <p:nvSpPr>
          <p:cNvPr id="14" name="Text 12"/>
          <p:cNvSpPr/>
          <p:nvPr/>
        </p:nvSpPr>
        <p:spPr>
          <a:xfrm>
            <a:off x="4453434" y="2833291"/>
            <a:ext cx="3331312"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7F6F1"/>
                </a:solidFill>
                <a:latin typeface="Public Sans" pitchFamily="34" charset="0"/>
                <a:ea typeface="Public Sans" pitchFamily="34" charset="-122"/>
                <a:cs typeface="Public Sans" pitchFamily="34" charset="-120"/>
              </a:rPr>
              <a:t>UC11 Enroll Student</a:t>
            </a:r>
            <a:endParaRPr lang="en-US" sz="1300" dirty="0"/>
          </a:p>
        </p:txBody>
      </p:sp>
      <p:sp>
        <p:nvSpPr>
          <p:cNvPr id="15" name="Text 13"/>
          <p:cNvSpPr/>
          <p:nvPr/>
        </p:nvSpPr>
        <p:spPr>
          <a:xfrm>
            <a:off x="4453434" y="3098701"/>
            <a:ext cx="3331312"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7F6F1"/>
                </a:solidFill>
                <a:latin typeface="Public Sans" pitchFamily="34" charset="0"/>
                <a:ea typeface="Public Sans" pitchFamily="34" charset="-122"/>
                <a:cs typeface="Public Sans" pitchFamily="34" charset="-120"/>
              </a:rPr>
              <a:t>UC12 Build Timetable</a:t>
            </a:r>
            <a:endParaRPr lang="en-US" sz="1300" dirty="0"/>
          </a:p>
        </p:txBody>
      </p:sp>
      <p:sp>
        <p:nvSpPr>
          <p:cNvPr id="16" name="Text 14"/>
          <p:cNvSpPr/>
          <p:nvPr/>
        </p:nvSpPr>
        <p:spPr>
          <a:xfrm>
            <a:off x="4453434" y="3364111"/>
            <a:ext cx="3331312"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7F6F1"/>
                </a:solidFill>
                <a:latin typeface="Public Sans" pitchFamily="34" charset="0"/>
                <a:ea typeface="Public Sans" pitchFamily="34" charset="-122"/>
                <a:cs typeface="Public Sans" pitchFamily="34" charset="-120"/>
              </a:rPr>
              <a:t>UC16 Manage Accounts and Roles</a:t>
            </a:r>
            <a:endParaRPr lang="en-US" sz="1300" dirty="0"/>
          </a:p>
        </p:txBody>
      </p:sp>
      <p:sp>
        <p:nvSpPr>
          <p:cNvPr id="17" name="Shape 15"/>
          <p:cNvSpPr/>
          <p:nvPr/>
        </p:nvSpPr>
        <p:spPr>
          <a:xfrm>
            <a:off x="8046492" y="1491605"/>
            <a:ext cx="3329533" cy="2110631"/>
          </a:xfrm>
          <a:prstGeom prst="roundRect">
            <a:avLst>
              <a:gd name="adj" fmla="val 4663"/>
            </a:avLst>
          </a:prstGeom>
          <a:solidFill>
            <a:srgbClr val="FFFEFA"/>
          </a:solidFill>
          <a:ln w="6350">
            <a:solidFill>
              <a:srgbClr val="DCDFE6"/>
            </a:solidFill>
            <a:prstDash val="solid"/>
          </a:ln>
        </p:spPr>
      </p:sp>
      <p:sp>
        <p:nvSpPr>
          <p:cNvPr id="18" name="Text 16"/>
          <p:cNvSpPr/>
          <p:nvPr/>
        </p:nvSpPr>
        <p:spPr>
          <a:xfrm>
            <a:off x="8252867" y="1697980"/>
            <a:ext cx="300428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C98"/>
                </a:solidFill>
                <a:latin typeface="Public Sans" pitchFamily="34" charset="0"/>
                <a:ea typeface="Public Sans" pitchFamily="34" charset="-122"/>
                <a:cs typeface="Public Sans" pitchFamily="34" charset="-120"/>
              </a:rPr>
              <a:t>Should (5)</a:t>
            </a:r>
            <a:endParaRPr lang="en-US" sz="1600" dirty="0"/>
          </a:p>
        </p:txBody>
      </p:sp>
      <p:sp>
        <p:nvSpPr>
          <p:cNvPr id="19" name="Text 17"/>
          <p:cNvSpPr/>
          <p:nvPr/>
        </p:nvSpPr>
        <p:spPr>
          <a:xfrm>
            <a:off x="8252867" y="2018010"/>
            <a:ext cx="3004287"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204A"/>
                </a:solidFill>
                <a:latin typeface="Public Sans" pitchFamily="34" charset="0"/>
                <a:ea typeface="Public Sans" pitchFamily="34" charset="-122"/>
                <a:cs typeface="Public Sans" pitchFamily="34" charset="-120"/>
              </a:rPr>
              <a:t>UC7 Take Quiz</a:t>
            </a:r>
            <a:endParaRPr lang="en-US" sz="1300" dirty="0"/>
          </a:p>
        </p:txBody>
      </p:sp>
      <p:sp>
        <p:nvSpPr>
          <p:cNvPr id="20" name="Text 18"/>
          <p:cNvSpPr/>
          <p:nvPr/>
        </p:nvSpPr>
        <p:spPr>
          <a:xfrm>
            <a:off x="8252867" y="2308820"/>
            <a:ext cx="3004287"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204A"/>
                </a:solidFill>
                <a:latin typeface="Public Sans" pitchFamily="34" charset="0"/>
                <a:ea typeface="Public Sans" pitchFamily="34" charset="-122"/>
                <a:cs typeface="Public Sans" pitchFamily="34" charset="-120"/>
              </a:rPr>
              <a:t>UC13 Generate Reports</a:t>
            </a:r>
            <a:endParaRPr lang="en-US" sz="1300" dirty="0"/>
          </a:p>
        </p:txBody>
      </p:sp>
      <p:sp>
        <p:nvSpPr>
          <p:cNvPr id="21" name="Text 19"/>
          <p:cNvSpPr/>
          <p:nvPr/>
        </p:nvSpPr>
        <p:spPr>
          <a:xfrm>
            <a:off x="8252867" y="2599630"/>
            <a:ext cx="3004287"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204A"/>
                </a:solidFill>
                <a:latin typeface="Public Sans" pitchFamily="34" charset="0"/>
                <a:ea typeface="Public Sans" pitchFamily="34" charset="-122"/>
                <a:cs typeface="Public Sans" pitchFamily="34" charset="-120"/>
              </a:rPr>
              <a:t>UC14 View Dashboard</a:t>
            </a:r>
            <a:endParaRPr lang="en-US" sz="1300" dirty="0"/>
          </a:p>
        </p:txBody>
      </p:sp>
      <p:sp>
        <p:nvSpPr>
          <p:cNvPr id="22" name="Text 20"/>
          <p:cNvSpPr/>
          <p:nvPr/>
        </p:nvSpPr>
        <p:spPr>
          <a:xfrm>
            <a:off x="8252867" y="2890441"/>
            <a:ext cx="3004287"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204A"/>
                </a:solidFill>
                <a:latin typeface="Public Sans" pitchFamily="34" charset="0"/>
                <a:ea typeface="Public Sans" pitchFamily="34" charset="-122"/>
                <a:cs typeface="Public Sans" pitchFamily="34" charset="-120"/>
              </a:rPr>
              <a:t>UC15 Message Parent and Teacher</a:t>
            </a:r>
            <a:endParaRPr lang="en-US" sz="1300" dirty="0"/>
          </a:p>
        </p:txBody>
      </p:sp>
      <p:sp>
        <p:nvSpPr>
          <p:cNvPr id="23" name="Text 21"/>
          <p:cNvSpPr/>
          <p:nvPr/>
        </p:nvSpPr>
        <p:spPr>
          <a:xfrm>
            <a:off x="8252867" y="3181251"/>
            <a:ext cx="3004287"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204A"/>
                </a:solidFill>
                <a:latin typeface="Public Sans" pitchFamily="34" charset="0"/>
                <a:ea typeface="Public Sans" pitchFamily="34" charset="-122"/>
                <a:cs typeface="Public Sans" pitchFamily="34" charset="-120"/>
              </a:rPr>
              <a:t>UC17 Back Up and Restore</a:t>
            </a:r>
            <a:endParaRPr lang="en-US" sz="1300" dirty="0"/>
          </a:p>
        </p:txBody>
      </p:sp>
      <p:sp>
        <p:nvSpPr>
          <p:cNvPr id="24" name="Shape 22"/>
          <p:cNvSpPr/>
          <p:nvPr/>
        </p:nvSpPr>
        <p:spPr>
          <a:xfrm>
            <a:off x="8046492" y="3760986"/>
            <a:ext cx="3329533" cy="947390"/>
          </a:xfrm>
          <a:prstGeom prst="roundRect">
            <a:avLst>
              <a:gd name="adj" fmla="val 10389"/>
            </a:avLst>
          </a:prstGeom>
          <a:solidFill>
            <a:srgbClr val="FFFEFA"/>
          </a:solidFill>
          <a:ln w="6350">
            <a:solidFill>
              <a:srgbClr val="DCDFE6"/>
            </a:solidFill>
            <a:prstDash val="solid"/>
          </a:ln>
        </p:spPr>
      </p:sp>
      <p:sp>
        <p:nvSpPr>
          <p:cNvPr id="25" name="Text 23"/>
          <p:cNvSpPr/>
          <p:nvPr/>
        </p:nvSpPr>
        <p:spPr>
          <a:xfrm>
            <a:off x="8252867" y="3967361"/>
            <a:ext cx="300428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7C98"/>
                </a:solidFill>
                <a:latin typeface="Public Sans" pitchFamily="34" charset="0"/>
                <a:ea typeface="Public Sans" pitchFamily="34" charset="-122"/>
                <a:cs typeface="Public Sans" pitchFamily="34" charset="-120"/>
              </a:rPr>
              <a:t>Could (1)</a:t>
            </a:r>
            <a:endParaRPr lang="en-US" sz="1600" dirty="0"/>
          </a:p>
        </p:txBody>
      </p:sp>
      <p:sp>
        <p:nvSpPr>
          <p:cNvPr id="26" name="Text 24"/>
          <p:cNvSpPr/>
          <p:nvPr/>
        </p:nvSpPr>
        <p:spPr>
          <a:xfrm>
            <a:off x="8252867" y="4287391"/>
            <a:ext cx="3004287"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204A"/>
                </a:solidFill>
                <a:latin typeface="Public Sans" pitchFamily="34" charset="0"/>
                <a:ea typeface="Public Sans" pitchFamily="34" charset="-122"/>
                <a:cs typeface="Public Sans" pitchFamily="34" charset="-120"/>
              </a:rPr>
              <a:t>UC18 Choose Interface Language</a:t>
            </a:r>
            <a:endParaRPr lang="en-US" sz="1300" dirty="0"/>
          </a:p>
        </p:txBody>
      </p:sp>
      <p:sp>
        <p:nvSpPr>
          <p:cNvPr id="27" name="Text 25"/>
          <p:cNvSpPr/>
          <p:nvPr/>
        </p:nvSpPr>
        <p:spPr>
          <a:xfrm>
            <a:off x="812800" y="6238280"/>
            <a:ext cx="71659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Public Sans" pitchFamily="34" charset="0"/>
                <a:ea typeface="Public Sans" pitchFamily="34" charset="-122"/>
                <a:cs typeface="Public Sans" pitchFamily="34" charset="-120"/>
              </a:rPr>
              <a:t>Won't for now: student mobile app, school-bus tracking. Source: Lab 4, SRS section 6</a:t>
            </a:r>
            <a:endParaRPr lang="en-US" sz="1200" dirty="0"/>
          </a:p>
        </p:txBody>
      </p:sp>
      <p:sp>
        <p:nvSpPr>
          <p:cNvPr id="28" name="Text 2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8"/>
                </a:solidFill>
                <a:latin typeface="Public Sans" pitchFamily="34" charset="0"/>
                <a:ea typeface="Public Sans" pitchFamily="34" charset="-122"/>
                <a:cs typeface="Public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56853"/>
          </a:xfrm>
          <a:prstGeom prst="rect">
            <a:avLst/>
          </a:prstGeom>
          <a:noFill/>
          <a:ln/>
        </p:spPr>
        <p:txBody>
          <a:bodyPr wrap="square" lIns="0" tIns="0" rIns="0" bIns="0" rtlCol="0" anchor="t">
            <a:normAutofit/>
          </a:bodyPr>
          <a:lstStyle/>
          <a:p>
            <a:pPr algn="l" indent="0" marL="0">
              <a:lnSpc>
                <a:spcPts val="3421"/>
              </a:lnSpc>
              <a:buNone/>
            </a:pPr>
            <a:r>
              <a:rPr lang="en-US" sz="3110" b="1" i="0" dirty="0">
                <a:solidFill>
                  <a:srgbClr val="12204A"/>
                </a:solidFill>
                <a:latin typeface="Rubik" pitchFamily="34" charset="0"/>
                <a:ea typeface="Rubik" pitchFamily="34" charset="-122"/>
                <a:cs typeface="Rubik" pitchFamily="34" charset="-120"/>
              </a:rPr>
              <a:t>Context diagram</a:t>
            </a:r>
            <a:endParaRPr lang="en-US" sz="3110" dirty="0"/>
          </a:p>
        </p:txBody>
      </p:sp>
      <p:sp>
        <p:nvSpPr>
          <p:cNvPr id="3" name="Shape 1"/>
          <p:cNvSpPr/>
          <p:nvPr/>
        </p:nvSpPr>
        <p:spPr>
          <a:xfrm>
            <a:off x="815975" y="1412528"/>
            <a:ext cx="3295650" cy="1365250"/>
          </a:xfrm>
          <a:prstGeom prst="roundRect">
            <a:avLst>
              <a:gd name="adj" fmla="val 7209"/>
            </a:avLst>
          </a:prstGeom>
          <a:solidFill>
            <a:srgbClr val="FFFEFA"/>
          </a:solidFill>
          <a:ln w="6350">
            <a:solidFill>
              <a:srgbClr val="B8BDCB"/>
            </a:solidFill>
            <a:prstDash val="solid"/>
          </a:ln>
        </p:spPr>
      </p:sp>
      <p:sp>
        <p:nvSpPr>
          <p:cNvPr id="4" name="Text 2"/>
          <p:cNvSpPr/>
          <p:nvPr/>
        </p:nvSpPr>
        <p:spPr>
          <a:xfrm>
            <a:off x="946150" y="1530003"/>
            <a:ext cx="31263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4A"/>
                </a:solidFill>
                <a:latin typeface="Public Sans" pitchFamily="34" charset="0"/>
                <a:ea typeface="Public Sans" pitchFamily="34" charset="-122"/>
                <a:cs typeface="Public Sans" pitchFamily="34" charset="-120"/>
              </a:rPr>
              <a:t>Principal</a:t>
            </a:r>
            <a:endParaRPr lang="en-US" sz="1600" dirty="0"/>
          </a:p>
        </p:txBody>
      </p:sp>
      <p:sp>
        <p:nvSpPr>
          <p:cNvPr id="5" name="Text 3"/>
          <p:cNvSpPr/>
          <p:nvPr/>
        </p:nvSpPr>
        <p:spPr>
          <a:xfrm>
            <a:off x="946150" y="1824633"/>
            <a:ext cx="3126359"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2204A"/>
                </a:solidFill>
                <a:latin typeface="Public Sans" pitchFamily="34" charset="0"/>
                <a:ea typeface="Public Sans" pitchFamily="34" charset="-122"/>
                <a:cs typeface="Public Sans" pitchFamily="34" charset="-120"/>
              </a:rPr>
              <a:t>Sends:</a:t>
            </a:r>
            <a:r>
              <a:rPr lang="en-US" sz="1200" dirty="0">
                <a:solidFill>
                  <a:srgbClr val="12204A"/>
                </a:solidFill>
                <a:latin typeface="Public Sans" pitchFamily="34" charset="0"/>
                <a:ea typeface="Public Sans" pitchFamily="34" charset="-122"/>
                <a:cs typeface="Public Sans" pitchFamily="34" charset="-120"/>
              </a:rPr>
              <a:t> report requests, approvals</a:t>
            </a:r>
            <a:endParaRPr lang="en-US" sz="1200" dirty="0"/>
          </a:p>
        </p:txBody>
      </p:sp>
      <p:sp>
        <p:nvSpPr>
          <p:cNvPr id="6" name="Text 4"/>
          <p:cNvSpPr/>
          <p:nvPr/>
        </p:nvSpPr>
        <p:spPr>
          <a:xfrm>
            <a:off x="946150" y="2073523"/>
            <a:ext cx="3126359"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2204A"/>
                </a:solidFill>
                <a:latin typeface="Public Sans" pitchFamily="34" charset="0"/>
                <a:ea typeface="Public Sans" pitchFamily="34" charset="-122"/>
                <a:cs typeface="Public Sans" pitchFamily="34" charset="-120"/>
              </a:rPr>
              <a:t>Gets:</a:t>
            </a:r>
            <a:r>
              <a:rPr lang="en-US" sz="1200" dirty="0">
                <a:solidFill>
                  <a:srgbClr val="12204A"/>
                </a:solidFill>
                <a:latin typeface="Public Sans" pitchFamily="34" charset="0"/>
                <a:ea typeface="Public Sans" pitchFamily="34" charset="-122"/>
                <a:cs typeface="Public Sans" pitchFamily="34" charset="-120"/>
              </a:rPr>
              <a:t> dashboard, reports</a:t>
            </a:r>
            <a:endParaRPr lang="en-US" sz="1200" dirty="0"/>
          </a:p>
        </p:txBody>
      </p:sp>
      <p:sp>
        <p:nvSpPr>
          <p:cNvPr id="7" name="Shape 5"/>
          <p:cNvSpPr/>
          <p:nvPr/>
        </p:nvSpPr>
        <p:spPr>
          <a:xfrm>
            <a:off x="815975" y="2936528"/>
            <a:ext cx="3295650" cy="1365250"/>
          </a:xfrm>
          <a:prstGeom prst="roundRect">
            <a:avLst>
              <a:gd name="adj" fmla="val 7209"/>
            </a:avLst>
          </a:prstGeom>
          <a:solidFill>
            <a:srgbClr val="FFFEFA"/>
          </a:solidFill>
          <a:ln w="6350">
            <a:solidFill>
              <a:srgbClr val="B8BDCB"/>
            </a:solidFill>
            <a:prstDash val="solid"/>
          </a:ln>
        </p:spPr>
      </p:sp>
      <p:sp>
        <p:nvSpPr>
          <p:cNvPr id="8" name="Text 6"/>
          <p:cNvSpPr/>
          <p:nvPr/>
        </p:nvSpPr>
        <p:spPr>
          <a:xfrm>
            <a:off x="946150" y="3054003"/>
            <a:ext cx="31263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4A"/>
                </a:solidFill>
                <a:latin typeface="Public Sans" pitchFamily="34" charset="0"/>
                <a:ea typeface="Public Sans" pitchFamily="34" charset="-122"/>
                <a:cs typeface="Public Sans" pitchFamily="34" charset="-120"/>
              </a:rPr>
              <a:t>Teacher</a:t>
            </a:r>
            <a:endParaRPr lang="en-US" sz="1600" dirty="0"/>
          </a:p>
        </p:txBody>
      </p:sp>
      <p:sp>
        <p:nvSpPr>
          <p:cNvPr id="9" name="Text 7"/>
          <p:cNvSpPr/>
          <p:nvPr/>
        </p:nvSpPr>
        <p:spPr>
          <a:xfrm>
            <a:off x="946150" y="3348633"/>
            <a:ext cx="3126359"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2204A"/>
                </a:solidFill>
                <a:latin typeface="Public Sans" pitchFamily="34" charset="0"/>
                <a:ea typeface="Public Sans" pitchFamily="34" charset="-122"/>
                <a:cs typeface="Public Sans" pitchFamily="34" charset="-120"/>
              </a:rPr>
              <a:t>Sends:</a:t>
            </a:r>
            <a:r>
              <a:rPr lang="en-US" sz="1200" dirty="0">
                <a:solidFill>
                  <a:srgbClr val="12204A"/>
                </a:solidFill>
                <a:latin typeface="Public Sans" pitchFamily="34" charset="0"/>
                <a:ea typeface="Public Sans" pitchFamily="34" charset="-122"/>
                <a:cs typeface="Public Sans" pitchFamily="34" charset="-120"/>
              </a:rPr>
              <a:t> attendance, grades, assignments, messages</a:t>
            </a:r>
            <a:endParaRPr lang="en-US" sz="1200" dirty="0"/>
          </a:p>
        </p:txBody>
      </p:sp>
      <p:sp>
        <p:nvSpPr>
          <p:cNvPr id="10" name="Text 8"/>
          <p:cNvSpPr/>
          <p:nvPr/>
        </p:nvSpPr>
        <p:spPr>
          <a:xfrm>
            <a:off x="946150" y="3795613"/>
            <a:ext cx="3126359"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2204A"/>
                </a:solidFill>
                <a:latin typeface="Public Sans" pitchFamily="34" charset="0"/>
                <a:ea typeface="Public Sans" pitchFamily="34" charset="-122"/>
                <a:cs typeface="Public Sans" pitchFamily="34" charset="-120"/>
              </a:rPr>
              <a:t>Gets:</a:t>
            </a:r>
            <a:r>
              <a:rPr lang="en-US" sz="1200" dirty="0">
                <a:solidFill>
                  <a:srgbClr val="12204A"/>
                </a:solidFill>
                <a:latin typeface="Public Sans" pitchFamily="34" charset="0"/>
                <a:ea typeface="Public Sans" pitchFamily="34" charset="-122"/>
                <a:cs typeface="Public Sans" pitchFamily="34" charset="-120"/>
              </a:rPr>
              <a:t> class lists, alerts, submission status</a:t>
            </a:r>
            <a:endParaRPr lang="en-US" sz="1200" dirty="0"/>
          </a:p>
        </p:txBody>
      </p:sp>
      <p:sp>
        <p:nvSpPr>
          <p:cNvPr id="11" name="Shape 9"/>
          <p:cNvSpPr/>
          <p:nvPr/>
        </p:nvSpPr>
        <p:spPr>
          <a:xfrm>
            <a:off x="815975" y="4460528"/>
            <a:ext cx="3295650" cy="1365250"/>
          </a:xfrm>
          <a:prstGeom prst="roundRect">
            <a:avLst>
              <a:gd name="adj" fmla="val 7209"/>
            </a:avLst>
          </a:prstGeom>
          <a:solidFill>
            <a:srgbClr val="FFFEFA"/>
          </a:solidFill>
          <a:ln w="6350">
            <a:solidFill>
              <a:srgbClr val="B8BDCB"/>
            </a:solidFill>
            <a:prstDash val="solid"/>
          </a:ln>
        </p:spPr>
      </p:sp>
      <p:sp>
        <p:nvSpPr>
          <p:cNvPr id="12" name="Text 10"/>
          <p:cNvSpPr/>
          <p:nvPr/>
        </p:nvSpPr>
        <p:spPr>
          <a:xfrm>
            <a:off x="946150" y="4578003"/>
            <a:ext cx="31263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4A"/>
                </a:solidFill>
                <a:latin typeface="Public Sans" pitchFamily="34" charset="0"/>
                <a:ea typeface="Public Sans" pitchFamily="34" charset="-122"/>
                <a:cs typeface="Public Sans" pitchFamily="34" charset="-120"/>
              </a:rPr>
              <a:t>Student</a:t>
            </a:r>
            <a:endParaRPr lang="en-US" sz="1600" dirty="0"/>
          </a:p>
        </p:txBody>
      </p:sp>
      <p:sp>
        <p:nvSpPr>
          <p:cNvPr id="13" name="Text 11"/>
          <p:cNvSpPr/>
          <p:nvPr/>
        </p:nvSpPr>
        <p:spPr>
          <a:xfrm>
            <a:off x="946150" y="4872633"/>
            <a:ext cx="3126359"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2204A"/>
                </a:solidFill>
                <a:latin typeface="Public Sans" pitchFamily="34" charset="0"/>
                <a:ea typeface="Public Sans" pitchFamily="34" charset="-122"/>
                <a:cs typeface="Public Sans" pitchFamily="34" charset="-120"/>
              </a:rPr>
              <a:t>Sends:</a:t>
            </a:r>
            <a:r>
              <a:rPr lang="en-US" sz="1200" dirty="0">
                <a:solidFill>
                  <a:srgbClr val="12204A"/>
                </a:solidFill>
                <a:latin typeface="Public Sans" pitchFamily="34" charset="0"/>
                <a:ea typeface="Public Sans" pitchFamily="34" charset="-122"/>
                <a:cs typeface="Public Sans" pitchFamily="34" charset="-120"/>
              </a:rPr>
              <a:t> submissions, quiz answers</a:t>
            </a:r>
            <a:endParaRPr lang="en-US" sz="1200" dirty="0"/>
          </a:p>
        </p:txBody>
      </p:sp>
      <p:sp>
        <p:nvSpPr>
          <p:cNvPr id="14" name="Text 12"/>
          <p:cNvSpPr/>
          <p:nvPr/>
        </p:nvSpPr>
        <p:spPr>
          <a:xfrm>
            <a:off x="946150" y="5121523"/>
            <a:ext cx="3126359"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2204A"/>
                </a:solidFill>
                <a:latin typeface="Public Sans" pitchFamily="34" charset="0"/>
                <a:ea typeface="Public Sans" pitchFamily="34" charset="-122"/>
                <a:cs typeface="Public Sans" pitchFamily="34" charset="-120"/>
              </a:rPr>
              <a:t>Gets:</a:t>
            </a:r>
            <a:r>
              <a:rPr lang="en-US" sz="1200" dirty="0">
                <a:solidFill>
                  <a:srgbClr val="12204A"/>
                </a:solidFill>
                <a:latin typeface="Public Sans" pitchFamily="34" charset="0"/>
                <a:ea typeface="Public Sans" pitchFamily="34" charset="-122"/>
                <a:cs typeface="Public Sans" pitchFamily="34" charset="-120"/>
              </a:rPr>
              <a:t> timetable, grades, attendance, reminders</a:t>
            </a:r>
            <a:endParaRPr lang="en-US" sz="1200" dirty="0"/>
          </a:p>
        </p:txBody>
      </p:sp>
      <p:sp>
        <p:nvSpPr>
          <p:cNvPr id="15" name="Shape 13"/>
          <p:cNvSpPr/>
          <p:nvPr/>
        </p:nvSpPr>
        <p:spPr>
          <a:xfrm>
            <a:off x="4883150" y="1415703"/>
            <a:ext cx="2425700" cy="1060648"/>
          </a:xfrm>
          <a:prstGeom prst="roundRect">
            <a:avLst>
              <a:gd name="adj" fmla="val 8980"/>
            </a:avLst>
          </a:prstGeom>
          <a:solidFill>
            <a:srgbClr val="FFFEFA"/>
          </a:solidFill>
          <a:ln w="12700">
            <a:solidFill>
              <a:srgbClr val="B87A12"/>
            </a:solidFill>
            <a:prstDash val="dash"/>
          </a:ln>
        </p:spPr>
      </p:sp>
      <p:sp>
        <p:nvSpPr>
          <p:cNvPr id="16" name="Text 14"/>
          <p:cNvSpPr/>
          <p:nvPr/>
        </p:nvSpPr>
        <p:spPr>
          <a:xfrm>
            <a:off x="5016500" y="1536353"/>
            <a:ext cx="2223770" cy="231874"/>
          </a:xfrm>
          <a:prstGeom prst="rect">
            <a:avLst/>
          </a:prstGeom>
          <a:noFill/>
          <a:ln/>
        </p:spPr>
        <p:txBody>
          <a:bodyPr wrap="square" lIns="0" tIns="0" rIns="0" bIns="0" rtlCol="0" anchor="t">
            <a:normAutofit/>
          </a:bodyPr>
          <a:lstStyle/>
          <a:p>
            <a:pPr algn="l" indent="0" marL="0">
              <a:lnSpc>
                <a:spcPts val="1671"/>
              </a:lnSpc>
              <a:buNone/>
            </a:pPr>
            <a:r>
              <a:rPr lang="en-US" sz="1392" b="1" dirty="0">
                <a:solidFill>
                  <a:srgbClr val="12204A"/>
                </a:solidFill>
                <a:latin typeface="Public Sans" pitchFamily="34" charset="0"/>
                <a:ea typeface="Public Sans" pitchFamily="34" charset="-122"/>
                <a:cs typeface="Public Sans" pitchFamily="34" charset="-120"/>
              </a:rPr>
              <a:t>Payment Gateway</a:t>
            </a:r>
            <a:endParaRPr lang="en-US" sz="1392" dirty="0"/>
          </a:p>
        </p:txBody>
      </p:sp>
      <p:sp>
        <p:nvSpPr>
          <p:cNvPr id="17" name="Text 15"/>
          <p:cNvSpPr/>
          <p:nvPr/>
        </p:nvSpPr>
        <p:spPr>
          <a:xfrm>
            <a:off x="5016500" y="1780927"/>
            <a:ext cx="2223770" cy="204291"/>
          </a:xfrm>
          <a:prstGeom prst="rect">
            <a:avLst/>
          </a:prstGeom>
          <a:noFill/>
          <a:ln/>
        </p:spPr>
        <p:txBody>
          <a:bodyPr wrap="square" lIns="0" tIns="0" rIns="0" bIns="0" rtlCol="0" anchor="t">
            <a:normAutofit/>
          </a:bodyPr>
          <a:lstStyle/>
          <a:p>
            <a:pPr algn="l" indent="0" marL="0">
              <a:lnSpc>
                <a:spcPts val="1424"/>
              </a:lnSpc>
              <a:buNone/>
            </a:pPr>
            <a:r>
              <a:rPr lang="en-US" sz="1095" dirty="0">
                <a:solidFill>
                  <a:srgbClr val="12204A"/>
                </a:solidFill>
                <a:latin typeface="Public Sans" pitchFamily="34" charset="0"/>
                <a:ea typeface="Public Sans" pitchFamily="34" charset="-122"/>
                <a:cs typeface="Public Sans" pitchFamily="34" charset="-120"/>
              </a:rPr>
              <a:t>Gets payment requests</a:t>
            </a:r>
            <a:endParaRPr lang="en-US" sz="1095" dirty="0"/>
          </a:p>
        </p:txBody>
      </p:sp>
      <p:sp>
        <p:nvSpPr>
          <p:cNvPr id="18" name="Text 16"/>
          <p:cNvSpPr/>
          <p:nvPr/>
        </p:nvSpPr>
        <p:spPr>
          <a:xfrm>
            <a:off x="5016500" y="1997918"/>
            <a:ext cx="2223770" cy="383183"/>
          </a:xfrm>
          <a:prstGeom prst="rect">
            <a:avLst/>
          </a:prstGeom>
          <a:noFill/>
          <a:ln/>
        </p:spPr>
        <p:txBody>
          <a:bodyPr wrap="square" lIns="0" tIns="0" rIns="0" bIns="0" rtlCol="0" anchor="t">
            <a:normAutofit/>
          </a:bodyPr>
          <a:lstStyle/>
          <a:p>
            <a:pPr algn="l" indent="0" marL="0">
              <a:lnSpc>
                <a:spcPts val="1409"/>
              </a:lnSpc>
              <a:buNone/>
            </a:pPr>
            <a:r>
              <a:rPr lang="en-US" sz="1084" dirty="0">
                <a:solidFill>
                  <a:srgbClr val="12204A"/>
                </a:solidFill>
                <a:latin typeface="Public Sans" pitchFamily="34" charset="0"/>
                <a:ea typeface="Public Sans" pitchFamily="34" charset="-122"/>
                <a:cs typeface="Public Sans" pitchFamily="34" charset="-120"/>
              </a:rPr>
              <a:t>Returns approved, declined or no answer</a:t>
            </a:r>
            <a:endParaRPr lang="en-US" sz="1084" dirty="0"/>
          </a:p>
        </p:txBody>
      </p:sp>
      <p:sp>
        <p:nvSpPr>
          <p:cNvPr id="19" name="Shape 17"/>
          <p:cNvSpPr/>
          <p:nvPr/>
        </p:nvSpPr>
        <p:spPr>
          <a:xfrm>
            <a:off x="4876800" y="2787501"/>
            <a:ext cx="2438400" cy="1676400"/>
          </a:xfrm>
          <a:prstGeom prst="roundRect">
            <a:avLst>
              <a:gd name="adj" fmla="val 6061"/>
            </a:avLst>
          </a:prstGeom>
          <a:solidFill>
            <a:srgbClr val="12204A"/>
          </a:solidFill>
          <a:ln/>
        </p:spPr>
      </p:sp>
      <p:sp>
        <p:nvSpPr>
          <p:cNvPr id="20" name="Text 18"/>
          <p:cNvSpPr/>
          <p:nvPr/>
        </p:nvSpPr>
        <p:spPr>
          <a:xfrm>
            <a:off x="5239048" y="3107531"/>
            <a:ext cx="1713905" cy="523230"/>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F2B544"/>
                </a:solidFill>
                <a:latin typeface="Rubik" pitchFamily="34" charset="0"/>
                <a:ea typeface="Rubik" pitchFamily="34" charset="-122"/>
                <a:cs typeface="Rubik" pitchFamily="34" charset="-120"/>
              </a:rPr>
              <a:t>EduLink</a:t>
            </a:r>
            <a:endParaRPr lang="en-US" sz="2800" dirty="0"/>
          </a:p>
        </p:txBody>
      </p:sp>
      <p:sp>
        <p:nvSpPr>
          <p:cNvPr id="21" name="Text 19"/>
          <p:cNvSpPr/>
          <p:nvPr/>
        </p:nvSpPr>
        <p:spPr>
          <a:xfrm>
            <a:off x="4997196" y="3681561"/>
            <a:ext cx="2197608" cy="487660"/>
          </a:xfrm>
          <a:prstGeom prst="rect">
            <a:avLst/>
          </a:prstGeom>
          <a:noFill/>
          <a:ln/>
        </p:spPr>
        <p:txBody>
          <a:bodyPr wrap="square" lIns="0" tIns="0" rIns="0" bIns="0" rtlCol="0" anchor="t">
            <a:normAutofit/>
          </a:bodyPr>
          <a:lstStyle/>
          <a:p>
            <a:pPr algn="ctr" indent="0" marL="0">
              <a:lnSpc>
                <a:spcPts val="1820"/>
              </a:lnSpc>
              <a:buNone/>
            </a:pPr>
            <a:r>
              <a:rPr lang="en-US" sz="1400" dirty="0">
                <a:solidFill>
                  <a:srgbClr val="F7F6F1"/>
                </a:solidFill>
                <a:latin typeface="Public Sans" pitchFamily="34" charset="0"/>
                <a:ea typeface="Public Sans" pitchFamily="34" charset="-122"/>
                <a:cs typeface="Public Sans" pitchFamily="34" charset="-120"/>
              </a:rPr>
              <a:t>school management system</a:t>
            </a:r>
            <a:endParaRPr lang="en-US" sz="1400" dirty="0"/>
          </a:p>
        </p:txBody>
      </p:sp>
      <p:sp>
        <p:nvSpPr>
          <p:cNvPr id="22" name="Shape 20"/>
          <p:cNvSpPr/>
          <p:nvPr/>
        </p:nvSpPr>
        <p:spPr>
          <a:xfrm>
            <a:off x="4883150" y="4775051"/>
            <a:ext cx="2425700" cy="1060599"/>
          </a:xfrm>
          <a:prstGeom prst="roundRect">
            <a:avLst>
              <a:gd name="adj" fmla="val 8981"/>
            </a:avLst>
          </a:prstGeom>
          <a:solidFill>
            <a:srgbClr val="FFFEFA"/>
          </a:solidFill>
          <a:ln w="12700">
            <a:solidFill>
              <a:srgbClr val="B87A12"/>
            </a:solidFill>
            <a:prstDash val="dash"/>
          </a:ln>
        </p:spPr>
      </p:sp>
      <p:sp>
        <p:nvSpPr>
          <p:cNvPr id="23" name="Text 21"/>
          <p:cNvSpPr/>
          <p:nvPr/>
        </p:nvSpPr>
        <p:spPr>
          <a:xfrm>
            <a:off x="5016500" y="4895701"/>
            <a:ext cx="2223770" cy="231874"/>
          </a:xfrm>
          <a:prstGeom prst="rect">
            <a:avLst/>
          </a:prstGeom>
          <a:noFill/>
          <a:ln/>
        </p:spPr>
        <p:txBody>
          <a:bodyPr wrap="square" lIns="0" tIns="0" rIns="0" bIns="0" rtlCol="0" anchor="t">
            <a:normAutofit/>
          </a:bodyPr>
          <a:lstStyle/>
          <a:p>
            <a:pPr algn="l" indent="0" marL="0">
              <a:lnSpc>
                <a:spcPts val="1671"/>
              </a:lnSpc>
              <a:buNone/>
            </a:pPr>
            <a:r>
              <a:rPr lang="en-US" sz="1392" b="1" dirty="0">
                <a:solidFill>
                  <a:srgbClr val="12204A"/>
                </a:solidFill>
                <a:latin typeface="Public Sans" pitchFamily="34" charset="0"/>
                <a:ea typeface="Public Sans" pitchFamily="34" charset="-122"/>
                <a:cs typeface="Public Sans" pitchFamily="34" charset="-120"/>
              </a:rPr>
              <a:t>Notification Service</a:t>
            </a:r>
            <a:endParaRPr lang="en-US" sz="1392" dirty="0"/>
          </a:p>
        </p:txBody>
      </p:sp>
      <p:sp>
        <p:nvSpPr>
          <p:cNvPr id="24" name="Text 22"/>
          <p:cNvSpPr/>
          <p:nvPr/>
        </p:nvSpPr>
        <p:spPr>
          <a:xfrm>
            <a:off x="5016500" y="5140275"/>
            <a:ext cx="2223770" cy="204242"/>
          </a:xfrm>
          <a:prstGeom prst="rect">
            <a:avLst/>
          </a:prstGeom>
          <a:noFill/>
          <a:ln/>
        </p:spPr>
        <p:txBody>
          <a:bodyPr wrap="square" lIns="0" tIns="0" rIns="0" bIns="0" rtlCol="0" anchor="t">
            <a:normAutofit/>
          </a:bodyPr>
          <a:lstStyle/>
          <a:p>
            <a:pPr algn="l" indent="0" marL="0">
              <a:lnSpc>
                <a:spcPts val="1424"/>
              </a:lnSpc>
              <a:buNone/>
            </a:pPr>
            <a:r>
              <a:rPr lang="en-US" sz="1095" dirty="0">
                <a:solidFill>
                  <a:srgbClr val="12204A"/>
                </a:solidFill>
                <a:latin typeface="Public Sans" pitchFamily="34" charset="0"/>
                <a:ea typeface="Public Sans" pitchFamily="34" charset="-122"/>
                <a:cs typeface="Public Sans" pitchFamily="34" charset="-120"/>
              </a:rPr>
              <a:t>Gets alerts to send</a:t>
            </a:r>
            <a:endParaRPr lang="en-US" sz="1095" dirty="0"/>
          </a:p>
        </p:txBody>
      </p:sp>
      <p:sp>
        <p:nvSpPr>
          <p:cNvPr id="25" name="Text 23"/>
          <p:cNvSpPr/>
          <p:nvPr/>
        </p:nvSpPr>
        <p:spPr>
          <a:xfrm>
            <a:off x="5016500" y="5357217"/>
            <a:ext cx="2223770" cy="383183"/>
          </a:xfrm>
          <a:prstGeom prst="rect">
            <a:avLst/>
          </a:prstGeom>
          <a:noFill/>
          <a:ln/>
        </p:spPr>
        <p:txBody>
          <a:bodyPr wrap="square" lIns="0" tIns="0" rIns="0" bIns="0" rtlCol="0" anchor="t">
            <a:normAutofit/>
          </a:bodyPr>
          <a:lstStyle/>
          <a:p>
            <a:pPr algn="l" indent="0" marL="0">
              <a:lnSpc>
                <a:spcPts val="1409"/>
              </a:lnSpc>
              <a:buNone/>
            </a:pPr>
            <a:r>
              <a:rPr lang="en-US" sz="1084" dirty="0">
                <a:solidFill>
                  <a:srgbClr val="12204A"/>
                </a:solidFill>
                <a:latin typeface="Public Sans" pitchFamily="34" charset="0"/>
                <a:ea typeface="Public Sans" pitchFamily="34" charset="-122"/>
                <a:cs typeface="Public Sans" pitchFamily="34" charset="-120"/>
              </a:rPr>
              <a:t>Delivers push, then SMS if the push fails</a:t>
            </a:r>
            <a:endParaRPr lang="en-US" sz="1084" dirty="0"/>
          </a:p>
        </p:txBody>
      </p:sp>
      <p:sp>
        <p:nvSpPr>
          <p:cNvPr id="26" name="Shape 24"/>
          <p:cNvSpPr/>
          <p:nvPr/>
        </p:nvSpPr>
        <p:spPr>
          <a:xfrm>
            <a:off x="8080375" y="1412528"/>
            <a:ext cx="3295650" cy="1365250"/>
          </a:xfrm>
          <a:prstGeom prst="roundRect">
            <a:avLst>
              <a:gd name="adj" fmla="val 7209"/>
            </a:avLst>
          </a:prstGeom>
          <a:solidFill>
            <a:srgbClr val="FFFEFA"/>
          </a:solidFill>
          <a:ln w="6350">
            <a:solidFill>
              <a:srgbClr val="B8BDCB"/>
            </a:solidFill>
            <a:prstDash val="solid"/>
          </a:ln>
        </p:spPr>
      </p:sp>
      <p:sp>
        <p:nvSpPr>
          <p:cNvPr id="27" name="Text 25"/>
          <p:cNvSpPr/>
          <p:nvPr/>
        </p:nvSpPr>
        <p:spPr>
          <a:xfrm>
            <a:off x="8210550" y="1530003"/>
            <a:ext cx="31263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4A"/>
                </a:solidFill>
                <a:latin typeface="Public Sans" pitchFamily="34" charset="0"/>
                <a:ea typeface="Public Sans" pitchFamily="34" charset="-122"/>
                <a:cs typeface="Public Sans" pitchFamily="34" charset="-120"/>
              </a:rPr>
              <a:t>Parent</a:t>
            </a:r>
            <a:endParaRPr lang="en-US" sz="1600" dirty="0"/>
          </a:p>
        </p:txBody>
      </p:sp>
      <p:sp>
        <p:nvSpPr>
          <p:cNvPr id="28" name="Text 26"/>
          <p:cNvSpPr/>
          <p:nvPr/>
        </p:nvSpPr>
        <p:spPr>
          <a:xfrm>
            <a:off x="8210550" y="1824633"/>
            <a:ext cx="3126359"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2204A"/>
                </a:solidFill>
                <a:latin typeface="Public Sans" pitchFamily="34" charset="0"/>
                <a:ea typeface="Public Sans" pitchFamily="34" charset="-122"/>
                <a:cs typeface="Public Sans" pitchFamily="34" charset="-120"/>
              </a:rPr>
              <a:t>Sends:</a:t>
            </a:r>
            <a:r>
              <a:rPr lang="en-US" sz="1200" dirty="0">
                <a:solidFill>
                  <a:srgbClr val="12204A"/>
                </a:solidFill>
                <a:latin typeface="Public Sans" pitchFamily="34" charset="0"/>
                <a:ea typeface="Public Sans" pitchFamily="34" charset="-122"/>
                <a:cs typeface="Public Sans" pitchFamily="34" charset="-120"/>
              </a:rPr>
              <a:t> fee payments, messages</a:t>
            </a:r>
            <a:endParaRPr lang="en-US" sz="1200" dirty="0"/>
          </a:p>
        </p:txBody>
      </p:sp>
      <p:sp>
        <p:nvSpPr>
          <p:cNvPr id="29" name="Text 27"/>
          <p:cNvSpPr/>
          <p:nvPr/>
        </p:nvSpPr>
        <p:spPr>
          <a:xfrm>
            <a:off x="8210550" y="2073523"/>
            <a:ext cx="3126359"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2204A"/>
                </a:solidFill>
                <a:latin typeface="Public Sans" pitchFamily="34" charset="0"/>
                <a:ea typeface="Public Sans" pitchFamily="34" charset="-122"/>
                <a:cs typeface="Public Sans" pitchFamily="34" charset="-120"/>
              </a:rPr>
              <a:t>Gets:</a:t>
            </a:r>
            <a:r>
              <a:rPr lang="en-US" sz="1200" dirty="0">
                <a:solidFill>
                  <a:srgbClr val="12204A"/>
                </a:solidFill>
                <a:latin typeface="Public Sans" pitchFamily="34" charset="0"/>
                <a:ea typeface="Public Sans" pitchFamily="34" charset="-122"/>
                <a:cs typeface="Public Sans" pitchFamily="34" charset="-120"/>
              </a:rPr>
              <a:t> grades, absence alerts, receipts, reminders</a:t>
            </a:r>
            <a:endParaRPr lang="en-US" sz="1200" dirty="0"/>
          </a:p>
        </p:txBody>
      </p:sp>
      <p:sp>
        <p:nvSpPr>
          <p:cNvPr id="30" name="Shape 28"/>
          <p:cNvSpPr/>
          <p:nvPr/>
        </p:nvSpPr>
        <p:spPr>
          <a:xfrm>
            <a:off x="8080375" y="2936528"/>
            <a:ext cx="3295650" cy="1372741"/>
          </a:xfrm>
          <a:prstGeom prst="roundRect">
            <a:avLst>
              <a:gd name="adj" fmla="val 7170"/>
            </a:avLst>
          </a:prstGeom>
          <a:solidFill>
            <a:srgbClr val="FFFEFA"/>
          </a:solidFill>
          <a:ln w="6350">
            <a:solidFill>
              <a:srgbClr val="B8BDCB"/>
            </a:solidFill>
            <a:prstDash val="solid"/>
          </a:ln>
        </p:spPr>
      </p:sp>
      <p:sp>
        <p:nvSpPr>
          <p:cNvPr id="31" name="Text 29"/>
          <p:cNvSpPr/>
          <p:nvPr/>
        </p:nvSpPr>
        <p:spPr>
          <a:xfrm>
            <a:off x="8210550" y="3054003"/>
            <a:ext cx="31263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4A"/>
                </a:solidFill>
                <a:latin typeface="Public Sans" pitchFamily="34" charset="0"/>
                <a:ea typeface="Public Sans" pitchFamily="34" charset="-122"/>
                <a:cs typeface="Public Sans" pitchFamily="34" charset="-120"/>
              </a:rPr>
              <a:t>Administrator</a:t>
            </a:r>
            <a:endParaRPr lang="en-US" sz="1600" dirty="0"/>
          </a:p>
        </p:txBody>
      </p:sp>
      <p:sp>
        <p:nvSpPr>
          <p:cNvPr id="32" name="Text 30"/>
          <p:cNvSpPr/>
          <p:nvPr/>
        </p:nvSpPr>
        <p:spPr>
          <a:xfrm>
            <a:off x="8210550" y="3348633"/>
            <a:ext cx="3126359"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2204A"/>
                </a:solidFill>
                <a:latin typeface="Public Sans" pitchFamily="34" charset="0"/>
                <a:ea typeface="Public Sans" pitchFamily="34" charset="-122"/>
                <a:cs typeface="Public Sans" pitchFamily="34" charset="-120"/>
              </a:rPr>
              <a:t>Sends:</a:t>
            </a:r>
            <a:r>
              <a:rPr lang="en-US" sz="1200" dirty="0">
                <a:solidFill>
                  <a:srgbClr val="12204A"/>
                </a:solidFill>
                <a:latin typeface="Public Sans" pitchFamily="34" charset="0"/>
                <a:ea typeface="Public Sans" pitchFamily="34" charset="-122"/>
                <a:cs typeface="Public Sans" pitchFamily="34" charset="-120"/>
              </a:rPr>
              <a:t> student records, timetable, fee payments</a:t>
            </a:r>
            <a:endParaRPr lang="en-US" sz="1200" dirty="0"/>
          </a:p>
        </p:txBody>
      </p:sp>
      <p:sp>
        <p:nvSpPr>
          <p:cNvPr id="33" name="Text 31"/>
          <p:cNvSpPr/>
          <p:nvPr/>
        </p:nvSpPr>
        <p:spPr>
          <a:xfrm>
            <a:off x="8210550" y="3795613"/>
            <a:ext cx="3126359"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2204A"/>
                </a:solidFill>
                <a:latin typeface="Public Sans" pitchFamily="34" charset="0"/>
                <a:ea typeface="Public Sans" pitchFamily="34" charset="-122"/>
                <a:cs typeface="Public Sans" pitchFamily="34" charset="-120"/>
              </a:rPr>
              <a:t>Gets:</a:t>
            </a:r>
            <a:r>
              <a:rPr lang="en-US" sz="1200" dirty="0">
                <a:solidFill>
                  <a:srgbClr val="12204A"/>
                </a:solidFill>
                <a:latin typeface="Public Sans" pitchFamily="34" charset="0"/>
                <a:ea typeface="Public Sans" pitchFamily="34" charset="-122"/>
                <a:cs typeface="Public Sans" pitchFamily="34" charset="-120"/>
              </a:rPr>
              <a:t> conflict warnings, overdue lists, reports</a:t>
            </a:r>
            <a:endParaRPr lang="en-US" sz="1200" dirty="0"/>
          </a:p>
        </p:txBody>
      </p:sp>
      <p:sp>
        <p:nvSpPr>
          <p:cNvPr id="34" name="Shape 32"/>
          <p:cNvSpPr/>
          <p:nvPr/>
        </p:nvSpPr>
        <p:spPr>
          <a:xfrm>
            <a:off x="8080375" y="4468019"/>
            <a:ext cx="3295650" cy="1365250"/>
          </a:xfrm>
          <a:prstGeom prst="roundRect">
            <a:avLst>
              <a:gd name="adj" fmla="val 7209"/>
            </a:avLst>
          </a:prstGeom>
          <a:solidFill>
            <a:srgbClr val="FFFEFA"/>
          </a:solidFill>
          <a:ln w="6350">
            <a:solidFill>
              <a:srgbClr val="B8BDCB"/>
            </a:solidFill>
            <a:prstDash val="solid"/>
          </a:ln>
        </p:spPr>
      </p:sp>
      <p:sp>
        <p:nvSpPr>
          <p:cNvPr id="35" name="Text 33"/>
          <p:cNvSpPr/>
          <p:nvPr/>
        </p:nvSpPr>
        <p:spPr>
          <a:xfrm>
            <a:off x="8210550" y="4585494"/>
            <a:ext cx="31263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4A"/>
                </a:solidFill>
                <a:latin typeface="Public Sans" pitchFamily="34" charset="0"/>
                <a:ea typeface="Public Sans" pitchFamily="34" charset="-122"/>
                <a:cs typeface="Public Sans" pitchFamily="34" charset="-120"/>
              </a:rPr>
              <a:t>IT Support</a:t>
            </a:r>
            <a:endParaRPr lang="en-US" sz="1600" dirty="0"/>
          </a:p>
        </p:txBody>
      </p:sp>
      <p:sp>
        <p:nvSpPr>
          <p:cNvPr id="36" name="Text 34"/>
          <p:cNvSpPr/>
          <p:nvPr/>
        </p:nvSpPr>
        <p:spPr>
          <a:xfrm>
            <a:off x="8210550" y="4880124"/>
            <a:ext cx="3126359"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2204A"/>
                </a:solidFill>
                <a:latin typeface="Public Sans" pitchFamily="34" charset="0"/>
                <a:ea typeface="Public Sans" pitchFamily="34" charset="-122"/>
                <a:cs typeface="Public Sans" pitchFamily="34" charset="-120"/>
              </a:rPr>
              <a:t>Sends:</a:t>
            </a:r>
            <a:r>
              <a:rPr lang="en-US" sz="1200" dirty="0">
                <a:solidFill>
                  <a:srgbClr val="12204A"/>
                </a:solidFill>
                <a:latin typeface="Public Sans" pitchFamily="34" charset="0"/>
                <a:ea typeface="Public Sans" pitchFamily="34" charset="-122"/>
                <a:cs typeface="Public Sans" pitchFamily="34" charset="-120"/>
              </a:rPr>
              <a:t> account changes, backup and restore</a:t>
            </a:r>
            <a:endParaRPr lang="en-US" sz="1200" dirty="0"/>
          </a:p>
        </p:txBody>
      </p:sp>
      <p:sp>
        <p:nvSpPr>
          <p:cNvPr id="37" name="Text 35"/>
          <p:cNvSpPr/>
          <p:nvPr/>
        </p:nvSpPr>
        <p:spPr>
          <a:xfrm>
            <a:off x="8210550" y="5327104"/>
            <a:ext cx="3126359"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2204A"/>
                </a:solidFill>
                <a:latin typeface="Public Sans" pitchFamily="34" charset="0"/>
                <a:ea typeface="Public Sans" pitchFamily="34" charset="-122"/>
                <a:cs typeface="Public Sans" pitchFamily="34" charset="-120"/>
              </a:rPr>
              <a:t>Gets:</a:t>
            </a:r>
            <a:r>
              <a:rPr lang="en-US" sz="1200" dirty="0">
                <a:solidFill>
                  <a:srgbClr val="12204A"/>
                </a:solidFill>
                <a:latin typeface="Public Sans" pitchFamily="34" charset="0"/>
                <a:ea typeface="Public Sans" pitchFamily="34" charset="-122"/>
                <a:cs typeface="Public Sans" pitchFamily="34" charset="-120"/>
              </a:rPr>
              <a:t> logs, backup status</a:t>
            </a:r>
            <a:endParaRPr lang="en-US" sz="1200" dirty="0"/>
          </a:p>
        </p:txBody>
      </p:sp>
      <p:pic>
        <p:nvPicPr>
          <p:cNvPr id="38" name="Image 0" descr="connector">    </p:cNvPr>
          <p:cNvPicPr>
            <a:picLocks noChangeAspect="1"/>
          </p:cNvPicPr>
          <p:nvPr/>
        </p:nvPicPr>
        <p:blipFill>
          <a:blip r:embed="rId1"/>
          <a:srcRect l="0" r="0" t="0" b="0"/>
          <a:stretch/>
        </p:blipFill>
        <p:spPr>
          <a:xfrm>
            <a:off x="4064000" y="2057400"/>
            <a:ext cx="863600" cy="1041400"/>
          </a:xfrm>
          <a:prstGeom prst="rect">
            <a:avLst/>
          </a:prstGeom>
        </p:spPr>
      </p:pic>
      <p:pic>
        <p:nvPicPr>
          <p:cNvPr id="39" name="Image 1" descr="connector">    </p:cNvPr>
          <p:cNvPicPr>
            <a:picLocks noChangeAspect="1"/>
          </p:cNvPicPr>
          <p:nvPr/>
        </p:nvPicPr>
        <p:blipFill>
          <a:blip r:embed="rId2"/>
          <a:srcRect l="0" r="0" t="0" b="0"/>
          <a:stretch/>
        </p:blipFill>
        <p:spPr>
          <a:xfrm>
            <a:off x="4064000" y="3581400"/>
            <a:ext cx="863600" cy="101600"/>
          </a:xfrm>
          <a:prstGeom prst="rect">
            <a:avLst/>
          </a:prstGeom>
        </p:spPr>
      </p:pic>
      <p:pic>
        <p:nvPicPr>
          <p:cNvPr id="40" name="Image 2" descr="connector">    </p:cNvPr>
          <p:cNvPicPr>
            <a:picLocks noChangeAspect="1"/>
          </p:cNvPicPr>
          <p:nvPr/>
        </p:nvPicPr>
        <p:blipFill>
          <a:blip r:embed="rId3"/>
          <a:srcRect l="0" r="0" t="0" b="0"/>
          <a:stretch/>
        </p:blipFill>
        <p:spPr>
          <a:xfrm>
            <a:off x="4064000" y="4165600"/>
            <a:ext cx="863600" cy="1041400"/>
          </a:xfrm>
          <a:prstGeom prst="rect">
            <a:avLst/>
          </a:prstGeom>
        </p:spPr>
      </p:pic>
      <p:pic>
        <p:nvPicPr>
          <p:cNvPr id="41" name="Image 3" descr="connector">    </p:cNvPr>
          <p:cNvPicPr>
            <a:picLocks noChangeAspect="1"/>
          </p:cNvPicPr>
          <p:nvPr/>
        </p:nvPicPr>
        <p:blipFill>
          <a:blip r:embed="rId4"/>
          <a:srcRect l="0" r="0" t="0" b="0"/>
          <a:stretch/>
        </p:blipFill>
        <p:spPr>
          <a:xfrm>
            <a:off x="7264400" y="2057400"/>
            <a:ext cx="863600" cy="1041400"/>
          </a:xfrm>
          <a:prstGeom prst="rect">
            <a:avLst/>
          </a:prstGeom>
        </p:spPr>
      </p:pic>
      <p:pic>
        <p:nvPicPr>
          <p:cNvPr id="42" name="Image 4" descr="connector">    </p:cNvPr>
          <p:cNvPicPr>
            <a:picLocks noChangeAspect="1"/>
          </p:cNvPicPr>
          <p:nvPr/>
        </p:nvPicPr>
        <p:blipFill>
          <a:blip r:embed="rId5"/>
          <a:srcRect l="0" r="0" t="0" b="0"/>
          <a:stretch/>
        </p:blipFill>
        <p:spPr>
          <a:xfrm>
            <a:off x="7264400" y="3581400"/>
            <a:ext cx="863600" cy="101600"/>
          </a:xfrm>
          <a:prstGeom prst="rect">
            <a:avLst/>
          </a:prstGeom>
        </p:spPr>
      </p:pic>
      <p:pic>
        <p:nvPicPr>
          <p:cNvPr id="43" name="Image 5" descr="connector">    </p:cNvPr>
          <p:cNvPicPr>
            <a:picLocks noChangeAspect="1"/>
          </p:cNvPicPr>
          <p:nvPr/>
        </p:nvPicPr>
        <p:blipFill>
          <a:blip r:embed="rId6"/>
          <a:srcRect l="0" r="0" t="0" b="0"/>
          <a:stretch/>
        </p:blipFill>
        <p:spPr>
          <a:xfrm>
            <a:off x="7264400" y="4165600"/>
            <a:ext cx="863600" cy="1041400"/>
          </a:xfrm>
          <a:prstGeom prst="rect">
            <a:avLst/>
          </a:prstGeom>
        </p:spPr>
      </p:pic>
      <p:pic>
        <p:nvPicPr>
          <p:cNvPr id="44" name="Image 6" descr="connector">    </p:cNvPr>
          <p:cNvPicPr>
            <a:picLocks noChangeAspect="1"/>
          </p:cNvPicPr>
          <p:nvPr/>
        </p:nvPicPr>
        <p:blipFill>
          <a:blip r:embed="rId7"/>
          <a:srcRect l="0" r="0" t="0" b="0"/>
          <a:stretch/>
        </p:blipFill>
        <p:spPr>
          <a:xfrm>
            <a:off x="6045200" y="2438400"/>
            <a:ext cx="101600" cy="406400"/>
          </a:xfrm>
          <a:prstGeom prst="rect">
            <a:avLst/>
          </a:prstGeom>
        </p:spPr>
      </p:pic>
      <p:pic>
        <p:nvPicPr>
          <p:cNvPr id="45" name="Image 7" descr="connector">    </p:cNvPr>
          <p:cNvPicPr>
            <a:picLocks noChangeAspect="1"/>
          </p:cNvPicPr>
          <p:nvPr/>
        </p:nvPicPr>
        <p:blipFill>
          <a:blip r:embed="rId8"/>
          <a:srcRect l="0" r="0" t="0" b="0"/>
          <a:stretch/>
        </p:blipFill>
        <p:spPr>
          <a:xfrm>
            <a:off x="6045200" y="4419600"/>
            <a:ext cx="101600" cy="406400"/>
          </a:xfrm>
          <a:prstGeom prst="rect">
            <a:avLst/>
          </a:prstGeom>
        </p:spPr>
      </p:pic>
      <p:sp>
        <p:nvSpPr>
          <p:cNvPr id="46" name="Text 36"/>
          <p:cNvSpPr/>
          <p:nvPr/>
        </p:nvSpPr>
        <p:spPr>
          <a:xfrm>
            <a:off x="812800" y="6238280"/>
            <a:ext cx="72752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Public Sans" pitchFamily="34" charset="0"/>
                <a:ea typeface="Public Sans" pitchFamily="34" charset="-122"/>
                <a:cs typeface="Public Sans" pitchFamily="34" charset="-120"/>
              </a:rPr>
              <a:t>Dashed boxes are outside systems; every arrow runs both ways. Source: SRS section 7</a:t>
            </a:r>
            <a:endParaRPr lang="en-US" sz="1200" dirty="0"/>
          </a:p>
        </p:txBody>
      </p:sp>
      <p:sp>
        <p:nvSpPr>
          <p:cNvPr id="47" name="Text 3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8"/>
                </a:solidFill>
                <a:latin typeface="Public Sans" pitchFamily="34" charset="0"/>
                <a:ea typeface="Public Sans" pitchFamily="34" charset="-122"/>
                <a:cs typeface="Public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04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6F1"/>
                </a:solidFill>
                <a:latin typeface="Rubik" pitchFamily="34" charset="0"/>
                <a:ea typeface="Rubik" pitchFamily="34" charset="-122"/>
                <a:cs typeface="Rubik" pitchFamily="34" charset="-120"/>
              </a:rPr>
              <a:t>Project management: five phases</a:t>
            </a:r>
            <a:endParaRPr lang="en-US" sz="3200" dirty="0"/>
          </a:p>
        </p:txBody>
      </p:sp>
      <p:sp>
        <p:nvSpPr>
          <p:cNvPr id="3" name="Shape 1"/>
          <p:cNvSpPr/>
          <p:nvPr/>
        </p:nvSpPr>
        <p:spPr>
          <a:xfrm>
            <a:off x="812800" y="1513830"/>
            <a:ext cx="2032000" cy="1384201"/>
          </a:xfrm>
          <a:prstGeom prst="roundRect">
            <a:avLst>
              <a:gd name="adj" fmla="val 7340"/>
            </a:avLst>
          </a:prstGeom>
          <a:solidFill>
            <a:srgbClr val="F2B544"/>
          </a:solidFill>
          <a:ln/>
        </p:spPr>
      </p:sp>
      <p:sp>
        <p:nvSpPr>
          <p:cNvPr id="4" name="Text 2"/>
          <p:cNvSpPr/>
          <p:nvPr/>
        </p:nvSpPr>
        <p:spPr>
          <a:xfrm>
            <a:off x="990600" y="1691630"/>
            <a:ext cx="17272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4A"/>
                </a:solidFill>
                <a:latin typeface="Public Sans" pitchFamily="34" charset="0"/>
                <a:ea typeface="Public Sans" pitchFamily="34" charset="-122"/>
                <a:cs typeface="Public Sans" pitchFamily="34" charset="-120"/>
              </a:rPr>
              <a:t>1 Analysis</a:t>
            </a:r>
            <a:endParaRPr lang="en-US" sz="1600" dirty="0"/>
          </a:p>
        </p:txBody>
      </p:sp>
      <p:sp>
        <p:nvSpPr>
          <p:cNvPr id="5" name="Text 3"/>
          <p:cNvSpPr/>
          <p:nvPr/>
        </p:nvSpPr>
        <p:spPr>
          <a:xfrm>
            <a:off x="990600" y="1998960"/>
            <a:ext cx="17272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2204A"/>
                </a:solidFill>
                <a:latin typeface="Public Sans" pitchFamily="34" charset="0"/>
                <a:ea typeface="Public Sans" pitchFamily="34" charset="-122"/>
                <a:cs typeface="Public Sans" pitchFamily="34" charset="-120"/>
              </a:rPr>
              <a:t>Done</a:t>
            </a:r>
            <a:endParaRPr lang="en-US" sz="1300" dirty="0"/>
          </a:p>
        </p:txBody>
      </p:sp>
      <p:sp>
        <p:nvSpPr>
          <p:cNvPr id="6" name="Text 4"/>
          <p:cNvSpPr/>
          <p:nvPr/>
        </p:nvSpPr>
        <p:spPr>
          <a:xfrm>
            <a:off x="990600" y="2293590"/>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04A"/>
                </a:solidFill>
                <a:latin typeface="Public Sans" pitchFamily="34" charset="0"/>
                <a:ea typeface="Public Sans" pitchFamily="34" charset="-122"/>
                <a:cs typeface="Public Sans" pitchFamily="34" charset="-120"/>
              </a:rPr>
              <a:t>Labs 1 to 4 and this SRS: 40 requirements</a:t>
            </a:r>
            <a:endParaRPr lang="en-US" sz="1200" dirty="0"/>
          </a:p>
        </p:txBody>
      </p:sp>
      <p:sp>
        <p:nvSpPr>
          <p:cNvPr id="7" name="Shape 5"/>
          <p:cNvSpPr/>
          <p:nvPr/>
        </p:nvSpPr>
        <p:spPr>
          <a:xfrm>
            <a:off x="2946400" y="1513830"/>
            <a:ext cx="2032000" cy="1384201"/>
          </a:xfrm>
          <a:prstGeom prst="roundRect">
            <a:avLst>
              <a:gd name="adj" fmla="val 7340"/>
            </a:avLst>
          </a:prstGeom>
          <a:solidFill>
            <a:srgbClr val="1B2D63"/>
          </a:solidFill>
          <a:ln/>
        </p:spPr>
      </p:sp>
      <p:sp>
        <p:nvSpPr>
          <p:cNvPr id="8" name="Text 6"/>
          <p:cNvSpPr/>
          <p:nvPr/>
        </p:nvSpPr>
        <p:spPr>
          <a:xfrm>
            <a:off x="3124200" y="1691630"/>
            <a:ext cx="17272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1"/>
                </a:solidFill>
                <a:latin typeface="Public Sans" pitchFamily="34" charset="0"/>
                <a:ea typeface="Public Sans" pitchFamily="34" charset="-122"/>
                <a:cs typeface="Public Sans" pitchFamily="34" charset="-120"/>
              </a:rPr>
              <a:t>2 Design</a:t>
            </a:r>
            <a:endParaRPr lang="en-US" sz="1600" dirty="0"/>
          </a:p>
        </p:txBody>
      </p:sp>
      <p:sp>
        <p:nvSpPr>
          <p:cNvPr id="9" name="Text 7"/>
          <p:cNvSpPr/>
          <p:nvPr/>
        </p:nvSpPr>
        <p:spPr>
          <a:xfrm>
            <a:off x="3124200" y="1998960"/>
            <a:ext cx="17272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B544"/>
                </a:solidFill>
                <a:latin typeface="Public Sans" pitchFamily="34" charset="0"/>
                <a:ea typeface="Public Sans" pitchFamily="34" charset="-122"/>
                <a:cs typeface="Public Sans" pitchFamily="34" charset="-120"/>
              </a:rPr>
              <a:t>3 weeks</a:t>
            </a:r>
            <a:endParaRPr lang="en-US" sz="1300" dirty="0"/>
          </a:p>
        </p:txBody>
      </p:sp>
      <p:sp>
        <p:nvSpPr>
          <p:cNvPr id="10" name="Text 8"/>
          <p:cNvSpPr/>
          <p:nvPr/>
        </p:nvSpPr>
        <p:spPr>
          <a:xfrm>
            <a:off x="3124200" y="2293590"/>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5"/>
                </a:solidFill>
                <a:latin typeface="Public Sans" pitchFamily="34" charset="0"/>
                <a:ea typeface="Public Sans" pitchFamily="34" charset="-122"/>
                <a:cs typeface="Public Sans" pitchFamily="34" charset="-120"/>
              </a:rPr>
              <a:t>Arabic and English prototype; architecture</a:t>
            </a:r>
            <a:endParaRPr lang="en-US" sz="1200" dirty="0"/>
          </a:p>
        </p:txBody>
      </p:sp>
      <p:sp>
        <p:nvSpPr>
          <p:cNvPr id="11" name="Shape 9"/>
          <p:cNvSpPr/>
          <p:nvPr/>
        </p:nvSpPr>
        <p:spPr>
          <a:xfrm>
            <a:off x="5080000" y="1513830"/>
            <a:ext cx="2032000" cy="1384201"/>
          </a:xfrm>
          <a:prstGeom prst="roundRect">
            <a:avLst>
              <a:gd name="adj" fmla="val 7340"/>
            </a:avLst>
          </a:prstGeom>
          <a:solidFill>
            <a:srgbClr val="1B2D63"/>
          </a:solidFill>
          <a:ln/>
        </p:spPr>
      </p:sp>
      <p:sp>
        <p:nvSpPr>
          <p:cNvPr id="12" name="Text 10"/>
          <p:cNvSpPr/>
          <p:nvPr/>
        </p:nvSpPr>
        <p:spPr>
          <a:xfrm>
            <a:off x="5257800" y="1691630"/>
            <a:ext cx="17272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1"/>
                </a:solidFill>
                <a:latin typeface="Public Sans" pitchFamily="34" charset="0"/>
                <a:ea typeface="Public Sans" pitchFamily="34" charset="-122"/>
                <a:cs typeface="Public Sans" pitchFamily="34" charset="-120"/>
              </a:rPr>
              <a:t>3 Build</a:t>
            </a:r>
            <a:endParaRPr lang="en-US" sz="1600" dirty="0"/>
          </a:p>
        </p:txBody>
      </p:sp>
      <p:sp>
        <p:nvSpPr>
          <p:cNvPr id="13" name="Text 11"/>
          <p:cNvSpPr/>
          <p:nvPr/>
        </p:nvSpPr>
        <p:spPr>
          <a:xfrm>
            <a:off x="5257800" y="1998960"/>
            <a:ext cx="17272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B544"/>
                </a:solidFill>
                <a:latin typeface="Public Sans" pitchFamily="34" charset="0"/>
                <a:ea typeface="Public Sans" pitchFamily="34" charset="-122"/>
                <a:cs typeface="Public Sans" pitchFamily="34" charset="-120"/>
              </a:rPr>
              <a:t>5 weeks</a:t>
            </a:r>
            <a:endParaRPr lang="en-US" sz="1300" dirty="0"/>
          </a:p>
        </p:txBody>
      </p:sp>
      <p:sp>
        <p:nvSpPr>
          <p:cNvPr id="14" name="Text 12"/>
          <p:cNvSpPr/>
          <p:nvPr/>
        </p:nvSpPr>
        <p:spPr>
          <a:xfrm>
            <a:off x="5257800" y="2293590"/>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5"/>
                </a:solidFill>
                <a:latin typeface="Public Sans" pitchFamily="34" charset="0"/>
                <a:ea typeface="Public Sans" pitchFamily="34" charset="-122"/>
                <a:cs typeface="Public Sans" pitchFamily="34" charset="-120"/>
              </a:rPr>
              <a:t>Must use cases first, then Should and Could</a:t>
            </a:r>
            <a:endParaRPr lang="en-US" sz="1200" dirty="0"/>
          </a:p>
        </p:txBody>
      </p:sp>
      <p:sp>
        <p:nvSpPr>
          <p:cNvPr id="15" name="Shape 13"/>
          <p:cNvSpPr/>
          <p:nvPr/>
        </p:nvSpPr>
        <p:spPr>
          <a:xfrm>
            <a:off x="7213600" y="1513830"/>
            <a:ext cx="2032000" cy="1384201"/>
          </a:xfrm>
          <a:prstGeom prst="roundRect">
            <a:avLst>
              <a:gd name="adj" fmla="val 7340"/>
            </a:avLst>
          </a:prstGeom>
          <a:solidFill>
            <a:srgbClr val="1B2D63"/>
          </a:solidFill>
          <a:ln/>
        </p:spPr>
      </p:sp>
      <p:sp>
        <p:nvSpPr>
          <p:cNvPr id="16" name="Text 14"/>
          <p:cNvSpPr/>
          <p:nvPr/>
        </p:nvSpPr>
        <p:spPr>
          <a:xfrm>
            <a:off x="7391400" y="1691630"/>
            <a:ext cx="17272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1"/>
                </a:solidFill>
                <a:latin typeface="Public Sans" pitchFamily="34" charset="0"/>
                <a:ea typeface="Public Sans" pitchFamily="34" charset="-122"/>
                <a:cs typeface="Public Sans" pitchFamily="34" charset="-120"/>
              </a:rPr>
              <a:t>4 Test</a:t>
            </a:r>
            <a:endParaRPr lang="en-US" sz="1600" dirty="0"/>
          </a:p>
        </p:txBody>
      </p:sp>
      <p:sp>
        <p:nvSpPr>
          <p:cNvPr id="17" name="Text 15"/>
          <p:cNvSpPr/>
          <p:nvPr/>
        </p:nvSpPr>
        <p:spPr>
          <a:xfrm>
            <a:off x="7391400" y="1998960"/>
            <a:ext cx="17272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B544"/>
                </a:solidFill>
                <a:latin typeface="Public Sans" pitchFamily="34" charset="0"/>
                <a:ea typeface="Public Sans" pitchFamily="34" charset="-122"/>
                <a:cs typeface="Public Sans" pitchFamily="34" charset="-120"/>
              </a:rPr>
              <a:t>2 weeks</a:t>
            </a:r>
            <a:endParaRPr lang="en-US" sz="1300" dirty="0"/>
          </a:p>
        </p:txBody>
      </p:sp>
      <p:sp>
        <p:nvSpPr>
          <p:cNvPr id="18" name="Text 16"/>
          <p:cNvSpPr/>
          <p:nvPr/>
        </p:nvSpPr>
        <p:spPr>
          <a:xfrm>
            <a:off x="7391400" y="2293590"/>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5"/>
                </a:solidFill>
                <a:latin typeface="Public Sans" pitchFamily="34" charset="0"/>
                <a:ea typeface="Public Sans" pitchFamily="34" charset="-122"/>
                <a:cs typeface="Public Sans" pitchFamily="34" charset="-120"/>
              </a:rPr>
              <a:t>40 test cases, load test, 5-user usability test</a:t>
            </a:r>
            <a:endParaRPr lang="en-US" sz="1200" dirty="0"/>
          </a:p>
        </p:txBody>
      </p:sp>
      <p:sp>
        <p:nvSpPr>
          <p:cNvPr id="19" name="Shape 17"/>
          <p:cNvSpPr/>
          <p:nvPr/>
        </p:nvSpPr>
        <p:spPr>
          <a:xfrm>
            <a:off x="9347200" y="1513830"/>
            <a:ext cx="2032000" cy="1384201"/>
          </a:xfrm>
          <a:prstGeom prst="roundRect">
            <a:avLst>
              <a:gd name="adj" fmla="val 7340"/>
            </a:avLst>
          </a:prstGeom>
          <a:solidFill>
            <a:srgbClr val="1B2D63"/>
          </a:solidFill>
          <a:ln/>
        </p:spPr>
      </p:sp>
      <p:sp>
        <p:nvSpPr>
          <p:cNvPr id="20" name="Text 18"/>
          <p:cNvSpPr/>
          <p:nvPr/>
        </p:nvSpPr>
        <p:spPr>
          <a:xfrm>
            <a:off x="9525000" y="1691630"/>
            <a:ext cx="17272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1"/>
                </a:solidFill>
                <a:latin typeface="Public Sans" pitchFamily="34" charset="0"/>
                <a:ea typeface="Public Sans" pitchFamily="34" charset="-122"/>
                <a:cs typeface="Public Sans" pitchFamily="34" charset="-120"/>
              </a:rPr>
              <a:t>5 Delivery</a:t>
            </a:r>
            <a:endParaRPr lang="en-US" sz="1600" dirty="0"/>
          </a:p>
        </p:txBody>
      </p:sp>
      <p:sp>
        <p:nvSpPr>
          <p:cNvPr id="21" name="Text 19"/>
          <p:cNvSpPr/>
          <p:nvPr/>
        </p:nvSpPr>
        <p:spPr>
          <a:xfrm>
            <a:off x="9525000" y="1998960"/>
            <a:ext cx="17272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B544"/>
                </a:solidFill>
                <a:latin typeface="Public Sans" pitchFamily="34" charset="0"/>
                <a:ea typeface="Public Sans" pitchFamily="34" charset="-122"/>
                <a:cs typeface="Public Sans" pitchFamily="34" charset="-120"/>
              </a:rPr>
              <a:t>1 week</a:t>
            </a:r>
            <a:endParaRPr lang="en-US" sz="1300" dirty="0"/>
          </a:p>
        </p:txBody>
      </p:sp>
      <p:sp>
        <p:nvSpPr>
          <p:cNvPr id="22" name="Text 20"/>
          <p:cNvSpPr/>
          <p:nvPr/>
        </p:nvSpPr>
        <p:spPr>
          <a:xfrm>
            <a:off x="9525000" y="2293590"/>
            <a:ext cx="1727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5"/>
                </a:solidFill>
                <a:latin typeface="Public Sans" pitchFamily="34" charset="0"/>
                <a:ea typeface="Public Sans" pitchFamily="34" charset="-122"/>
                <a:cs typeface="Public Sans" pitchFamily="34" charset="-120"/>
              </a:rPr>
              <a:t>Final report and demo</a:t>
            </a:r>
            <a:endParaRPr lang="en-US" sz="1200" dirty="0"/>
          </a:p>
        </p:txBody>
      </p:sp>
      <p:sp>
        <p:nvSpPr>
          <p:cNvPr id="23" name="Text 21"/>
          <p:cNvSpPr/>
          <p:nvPr/>
        </p:nvSpPr>
        <p:spPr>
          <a:xfrm>
            <a:off x="812800" y="3152031"/>
            <a:ext cx="5363210"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9D3EA"/>
                </a:solidFill>
                <a:latin typeface="Public Sans" pitchFamily="34" charset="0"/>
                <a:ea typeface="Public Sans" pitchFamily="34" charset="-122"/>
                <a:cs typeface="Public Sans" pitchFamily="34" charset="-120"/>
              </a:rPr>
              <a:t>Team.</a:t>
            </a:r>
            <a:r>
              <a:rPr lang="en-US" sz="1300" dirty="0">
                <a:solidFill>
                  <a:srgbClr val="C9D3EA"/>
                </a:solidFill>
                <a:latin typeface="Public Sans" pitchFamily="34" charset="0"/>
                <a:ea typeface="Public Sans" pitchFamily="34" charset="-122"/>
                <a:cs typeface="Public Sans" pitchFamily="34" charset="-120"/>
              </a:rPr>
              <a:t> Project manager, requirements analyst, UI/UX designer, developers, tester [names to add].</a:t>
            </a:r>
            <a:endParaRPr lang="en-US" sz="1300" dirty="0"/>
          </a:p>
        </p:txBody>
      </p:sp>
      <p:sp>
        <p:nvSpPr>
          <p:cNvPr id="24" name="Text 22"/>
          <p:cNvSpPr/>
          <p:nvPr/>
        </p:nvSpPr>
        <p:spPr>
          <a:xfrm>
            <a:off x="6172200" y="3152031"/>
            <a:ext cx="5363210"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9D3EA"/>
                </a:solidFill>
                <a:latin typeface="Public Sans" pitchFamily="34" charset="0"/>
                <a:ea typeface="Public Sans" pitchFamily="34" charset="-122"/>
                <a:cs typeface="Public Sans" pitchFamily="34" charset="-120"/>
              </a:rPr>
              <a:t>Control.</a:t>
            </a:r>
            <a:r>
              <a:rPr lang="en-US" sz="1300" dirty="0">
                <a:solidFill>
                  <a:srgbClr val="C9D3EA"/>
                </a:solidFill>
                <a:latin typeface="Public Sans" pitchFamily="34" charset="0"/>
                <a:ea typeface="Public Sans" pitchFamily="34" charset="-122"/>
                <a:cs typeface="Public Sans" pitchFamily="34" charset="-120"/>
              </a:rPr>
              <a:t> Written change requests, approved by the project manager; weekly meeting; SRS is the single source.</a:t>
            </a:r>
            <a:endParaRPr lang="en-US" sz="1300" dirty="0"/>
          </a:p>
        </p:txBody>
      </p:sp>
      <p:sp>
        <p:nvSpPr>
          <p:cNvPr id="25" name="Text 23"/>
          <p:cNvSpPr/>
          <p:nvPr/>
        </p:nvSpPr>
        <p:spPr>
          <a:xfrm>
            <a:off x="812800" y="6238280"/>
            <a:ext cx="39744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D6"/>
                </a:solidFill>
                <a:latin typeface="Public Sans" pitchFamily="34" charset="0"/>
                <a:ea typeface="Public Sans" pitchFamily="34" charset="-122"/>
                <a:cs typeface="Public Sans" pitchFamily="34" charset="-120"/>
              </a:rPr>
              <a:t>Durations are proposals. Source: SRS section 8</a:t>
            </a:r>
            <a:endParaRPr lang="en-US" sz="1200" dirty="0"/>
          </a:p>
        </p:txBody>
      </p:sp>
      <p:sp>
        <p:nvSpPr>
          <p:cNvPr id="26"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6D6"/>
                </a:solidFill>
                <a:latin typeface="Public Sans" pitchFamily="34" charset="0"/>
                <a:ea typeface="Public Sans" pitchFamily="34" charset="-122"/>
                <a:cs typeface="Public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4A"/>
                </a:solidFill>
                <a:latin typeface="Rubik" pitchFamily="34" charset="0"/>
                <a:ea typeface="Rubik" pitchFamily="34" charset="-122"/>
                <a:cs typeface="Rubik" pitchFamily="34" charset="-120"/>
              </a:rPr>
              <a:t>Top risks and responses</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01130"/>
          <a:ext cx="10553700" cy="2155924"/>
        </p:xfrm>
        <a:graphic>
          <a:graphicData uri="http://schemas.openxmlformats.org/drawingml/2006/table">
            <a:tbl>
              <a:tblPr/>
              <a:tblGrid>
                <a:gridCol w="3166110"/>
                <a:gridCol w="1477518"/>
                <a:gridCol w="1266444"/>
                <a:gridCol w="4643628"/>
              </a:tblGrid>
              <a:tr h="359321">
                <a:tc>
                  <a:txBody>
                    <a:bodyPr/>
                    <a:lstStyle/>
                    <a:p>
                      <a:pPr indent="0" marL="0">
                        <a:lnSpc>
                          <a:spcPts val="1820"/>
                        </a:lnSpc>
                        <a:buNone/>
                      </a:pPr>
                      <a:r>
                        <a:rPr lang="en-US" sz="1300" b="1" dirty="0">
                          <a:solidFill>
                            <a:srgbClr val="12204A"/>
                          </a:solidFill>
                          <a:latin typeface="Public Sans" pitchFamily="34" charset="0"/>
                          <a:ea typeface="Public Sans" pitchFamily="34" charset="-122"/>
                          <a:cs typeface="Public Sans" pitchFamily="34" charset="-120"/>
                        </a:rPr>
                        <a:t>Risk</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820"/>
                        </a:lnSpc>
                        <a:buNone/>
                      </a:pPr>
                      <a:r>
                        <a:rPr lang="en-US" sz="1300" b="1" dirty="0">
                          <a:solidFill>
                            <a:srgbClr val="12204A"/>
                          </a:solidFill>
                          <a:latin typeface="Public Sans" pitchFamily="34" charset="0"/>
                          <a:ea typeface="Public Sans" pitchFamily="34" charset="-122"/>
                          <a:cs typeface="Public Sans" pitchFamily="34" charset="-120"/>
                        </a:rPr>
                        <a:t>Likelihood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820"/>
                        </a:lnSpc>
                        <a:buNone/>
                      </a:pPr>
                      <a:r>
                        <a:rPr lang="en-US" sz="1300" b="1" dirty="0">
                          <a:solidFill>
                            <a:srgbClr val="12204A"/>
                          </a:solidFill>
                          <a:latin typeface="Public Sans" pitchFamily="34" charset="0"/>
                          <a:ea typeface="Public Sans" pitchFamily="34" charset="-122"/>
                          <a:cs typeface="Public Sans" pitchFamily="34" charset="-120"/>
                        </a:rPr>
                        <a:t>Impact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indent="0" marL="0">
                        <a:lnSpc>
                          <a:spcPts val="1820"/>
                        </a:lnSpc>
                        <a:buNone/>
                      </a:pPr>
                      <a:r>
                        <a:rPr lang="en-US" sz="1300" b="1" dirty="0">
                          <a:solidFill>
                            <a:srgbClr val="12204A"/>
                          </a:solidFill>
                          <a:latin typeface="Public Sans" pitchFamily="34" charset="0"/>
                          <a:ea typeface="Public Sans" pitchFamily="34" charset="-122"/>
                          <a:cs typeface="Public Sans" pitchFamily="34" charset="-120"/>
                        </a:rPr>
                        <a:t>Response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r>
              <a:tr h="359321">
                <a:tc>
                  <a:txBody>
                    <a:bodyPr/>
                    <a:lstStyle/>
                    <a:p>
                      <a:pPr indent="0" marL="0">
                        <a:lnSpc>
                          <a:spcPts val="1820"/>
                        </a:lnSpc>
                        <a:buNone/>
                      </a:pPr>
                      <a:r>
                        <a:rPr lang="en-US" sz="1300" dirty="0">
                          <a:solidFill>
                            <a:srgbClr val="12204A"/>
                          </a:solidFill>
                          <a:latin typeface="Public Sans" pitchFamily="34" charset="0"/>
                          <a:ea typeface="Public Sans" pitchFamily="34" charset="-122"/>
                          <a:cs typeface="Public Sans" pitchFamily="34" charset="-120"/>
                        </a:rPr>
                        <a:t>Scope too large for the semester</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12204A"/>
                          </a:solidFill>
                          <a:latin typeface="Public Sans" pitchFamily="34" charset="0"/>
                          <a:ea typeface="Public Sans" pitchFamily="34" charset="-122"/>
                          <a:cs typeface="Public Sans" pitchFamily="34" charset="-120"/>
                        </a:rPr>
                        <a:t>High</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12204A"/>
                          </a:solidFill>
                          <a:latin typeface="Public Sans" pitchFamily="34" charset="0"/>
                          <a:ea typeface="Public Sans" pitchFamily="34" charset="-122"/>
                          <a:cs typeface="Public Sans" pitchFamily="34" charset="-120"/>
                        </a:rPr>
                        <a:t>High</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12204A"/>
                          </a:solidFill>
                          <a:latin typeface="Public Sans" pitchFamily="34" charset="0"/>
                          <a:ea typeface="Public Sans" pitchFamily="34" charset="-122"/>
                          <a:cs typeface="Public Sans" pitchFamily="34" charset="-120"/>
                        </a:rPr>
                        <a:t>Build Must first; drop Could and Should if late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9321">
                <a:tc>
                  <a:txBody>
                    <a:bodyPr/>
                    <a:lstStyle/>
                    <a:p>
                      <a:pPr indent="0" marL="0">
                        <a:lnSpc>
                          <a:spcPts val="1820"/>
                        </a:lnSpc>
                        <a:buNone/>
                      </a:pPr>
                      <a:r>
                        <a:rPr lang="en-US" sz="1300" dirty="0">
                          <a:solidFill>
                            <a:srgbClr val="12204A"/>
                          </a:solidFill>
                          <a:latin typeface="Public Sans" pitchFamily="34" charset="0"/>
                          <a:ea typeface="Public Sans" pitchFamily="34" charset="-122"/>
                          <a:cs typeface="Public Sans" pitchFamily="34" charset="-120"/>
                        </a:rPr>
                        <a:t>Payment gateway delays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12204A"/>
                          </a:solidFill>
                          <a:latin typeface="Public Sans" pitchFamily="34" charset="0"/>
                          <a:ea typeface="Public Sans" pitchFamily="34" charset="-122"/>
                          <a:cs typeface="Public Sans" pitchFamily="34" charset="-120"/>
                        </a:rPr>
                        <a:t>Medium</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12204A"/>
                          </a:solidFill>
                          <a:latin typeface="Public Sans" pitchFamily="34" charset="0"/>
                          <a:ea typeface="Public Sans" pitchFamily="34" charset="-122"/>
                          <a:cs typeface="Public Sans" pitchFamily="34" charset="-120"/>
                        </a:rPr>
                        <a:t>High</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12204A"/>
                          </a:solidFill>
                          <a:latin typeface="Public Sans" pitchFamily="34" charset="0"/>
                          <a:ea typeface="Public Sans" pitchFamily="34" charset="-122"/>
                          <a:cs typeface="Public Sans" pitchFamily="34" charset="-120"/>
                        </a:rPr>
                        <a:t>Test mode and a simulated gateway</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9321">
                <a:tc>
                  <a:txBody>
                    <a:bodyPr/>
                    <a:lstStyle/>
                    <a:p>
                      <a:pPr indent="0" marL="0">
                        <a:lnSpc>
                          <a:spcPts val="1820"/>
                        </a:lnSpc>
                        <a:buNone/>
                      </a:pPr>
                      <a:r>
                        <a:rPr lang="en-US" sz="1300" dirty="0">
                          <a:solidFill>
                            <a:srgbClr val="12204A"/>
                          </a:solidFill>
                          <a:latin typeface="Public Sans" pitchFamily="34" charset="0"/>
                          <a:ea typeface="Public Sans" pitchFamily="34" charset="-122"/>
                          <a:cs typeface="Public Sans" pitchFamily="34" charset="-120"/>
                        </a:rPr>
                        <a:t>Performance targets missed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12204A"/>
                          </a:solidFill>
                          <a:latin typeface="Public Sans" pitchFamily="34" charset="0"/>
                          <a:ea typeface="Public Sans" pitchFamily="34" charset="-122"/>
                          <a:cs typeface="Public Sans" pitchFamily="34" charset="-120"/>
                        </a:rPr>
                        <a:t>Low</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12204A"/>
                          </a:solidFill>
                          <a:latin typeface="Public Sans" pitchFamily="34" charset="0"/>
                          <a:ea typeface="Public Sans" pitchFamily="34" charset="-122"/>
                          <a:cs typeface="Public Sans" pitchFamily="34" charset="-120"/>
                        </a:rPr>
                        <a:t>High</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12204A"/>
                          </a:solidFill>
                          <a:latin typeface="Public Sans" pitchFamily="34" charset="0"/>
                          <a:ea typeface="Public Sans" pitchFamily="34" charset="-122"/>
                          <a:cs typeface="Public Sans" pitchFamily="34" charset="-120"/>
                        </a:rPr>
                        <a:t>Early load test (REQ-30)</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9321">
                <a:tc>
                  <a:txBody>
                    <a:bodyPr/>
                    <a:lstStyle/>
                    <a:p>
                      <a:pPr indent="0" marL="0">
                        <a:lnSpc>
                          <a:spcPts val="1820"/>
                        </a:lnSpc>
                        <a:buNone/>
                      </a:pPr>
                      <a:r>
                        <a:rPr lang="en-US" sz="1300" dirty="0">
                          <a:solidFill>
                            <a:srgbClr val="12204A"/>
                          </a:solidFill>
                          <a:latin typeface="Public Sans" pitchFamily="34" charset="0"/>
                          <a:ea typeface="Public Sans" pitchFamily="34" charset="-122"/>
                          <a:cs typeface="Public Sans" pitchFamily="34" charset="-120"/>
                        </a:rPr>
                        <a:t>Children's data and privacy rules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12204A"/>
                          </a:solidFill>
                          <a:latin typeface="Public Sans" pitchFamily="34" charset="0"/>
                          <a:ea typeface="Public Sans" pitchFamily="34" charset="-122"/>
                          <a:cs typeface="Public Sans" pitchFamily="34" charset="-120"/>
                        </a:rPr>
                        <a:t>Medium</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12204A"/>
                          </a:solidFill>
                          <a:latin typeface="Public Sans" pitchFamily="34" charset="0"/>
                          <a:ea typeface="Public Sans" pitchFamily="34" charset="-122"/>
                          <a:cs typeface="Public Sans" pitchFamily="34" charset="-120"/>
                        </a:rPr>
                        <a:t>High</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12204A"/>
                          </a:solidFill>
                          <a:latin typeface="Public Sans" pitchFamily="34" charset="0"/>
                          <a:ea typeface="Public Sans" pitchFamily="34" charset="-122"/>
                          <a:cs typeface="Public Sans" pitchFamily="34" charset="-120"/>
                        </a:rPr>
                        <a:t>Check with supervisor; role-based access and logs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9321">
                <a:tc>
                  <a:txBody>
                    <a:bodyPr/>
                    <a:lstStyle/>
                    <a:p>
                      <a:pPr indent="0" marL="0">
                        <a:lnSpc>
                          <a:spcPts val="1820"/>
                        </a:lnSpc>
                        <a:buNone/>
                      </a:pPr>
                      <a:r>
                        <a:rPr lang="en-US" sz="1300" dirty="0">
                          <a:solidFill>
                            <a:srgbClr val="12204A"/>
                          </a:solidFill>
                          <a:latin typeface="Public Sans" pitchFamily="34" charset="0"/>
                          <a:ea typeface="Public Sans" pitchFamily="34" charset="-122"/>
                          <a:cs typeface="Public Sans" pitchFamily="34" charset="-120"/>
                        </a:rPr>
                        <a:t>Survey changes priorities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12204A"/>
                          </a:solidFill>
                          <a:latin typeface="Public Sans" pitchFamily="34" charset="0"/>
                          <a:ea typeface="Public Sans" pitchFamily="34" charset="-122"/>
                          <a:cs typeface="Public Sans" pitchFamily="34" charset="-120"/>
                        </a:rPr>
                        <a:t>Medium</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12204A"/>
                          </a:solidFill>
                          <a:latin typeface="Public Sans" pitchFamily="34" charset="0"/>
                          <a:ea typeface="Public Sans" pitchFamily="34" charset="-122"/>
                          <a:cs typeface="Public Sans" pitchFamily="34" charset="-120"/>
                        </a:rPr>
                        <a:t>Medium</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12204A"/>
                          </a:solidFill>
                          <a:latin typeface="Public Sans" pitchFamily="34" charset="0"/>
                          <a:ea typeface="Public Sans" pitchFamily="34" charset="-122"/>
                          <a:cs typeface="Public Sans" pitchFamily="34" charset="-120"/>
                        </a:rPr>
                        <a:t>MoSCoW and change control</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4" name="Text 1"/>
          <p:cNvSpPr/>
          <p:nvPr/>
        </p:nvSpPr>
        <p:spPr>
          <a:xfrm>
            <a:off x="812800" y="6238280"/>
            <a:ext cx="49285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Public Sans" pitchFamily="34" charset="0"/>
                <a:ea typeface="Public Sans" pitchFamily="34" charset="-122"/>
                <a:cs typeface="Public Sans" pitchFamily="34" charset="-120"/>
              </a:rPr>
              <a:t>First estimate by the team; 3 more risks in SRS section 8.3</a:t>
            </a:r>
            <a:endParaRPr lang="en-US" sz="1200" dirty="0"/>
          </a:p>
        </p:txBody>
      </p:sp>
      <p:sp>
        <p:nvSpPr>
          <p:cNvPr id="5" name="Text 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8"/>
                </a:solidFill>
                <a:latin typeface="Public Sans" pitchFamily="34" charset="0"/>
                <a:ea typeface="Public Sans" pitchFamily="34" charset="-122"/>
                <a:cs typeface="Public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204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6F1"/>
                </a:solidFill>
                <a:latin typeface="Rubik" pitchFamily="34" charset="0"/>
                <a:ea typeface="Rubik" pitchFamily="34" charset="-122"/>
                <a:cs typeface="Rubik" pitchFamily="34" charset="-120"/>
              </a:rPr>
              <a:t>Conclusion and next steps</a:t>
            </a:r>
            <a:endParaRPr lang="en-US" sz="3200" dirty="0"/>
          </a:p>
        </p:txBody>
      </p:sp>
      <p:sp>
        <p:nvSpPr>
          <p:cNvPr id="3" name="Text 1"/>
          <p:cNvSpPr/>
          <p:nvPr/>
        </p:nvSpPr>
        <p:spPr>
          <a:xfrm>
            <a:off x="812800" y="1564630"/>
            <a:ext cx="10883392"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7F6F1"/>
                </a:solidFill>
                <a:latin typeface="Public Sans" pitchFamily="34" charset="0"/>
                <a:ea typeface="Public Sans" pitchFamily="34" charset="-122"/>
                <a:cs typeface="Public Sans" pitchFamily="34" charset="-120"/>
              </a:rPr>
              <a:t>Saudi schools need one reliable, Arabic-first platform. EduLink combines every role, dependable alerts, online fee payment and built-in security.</a:t>
            </a:r>
            <a:endParaRPr lang="en-US" sz="2000" dirty="0"/>
          </a:p>
        </p:txBody>
      </p:sp>
      <p:sp>
        <p:nvSpPr>
          <p:cNvPr id="4" name="Shape 2"/>
          <p:cNvSpPr/>
          <p:nvPr/>
        </p:nvSpPr>
        <p:spPr>
          <a:xfrm>
            <a:off x="812800" y="2580630"/>
            <a:ext cx="2527300" cy="1422350"/>
          </a:xfrm>
          <a:prstGeom prst="roundRect">
            <a:avLst>
              <a:gd name="adj" fmla="val 7143"/>
            </a:avLst>
          </a:prstGeom>
          <a:solidFill>
            <a:srgbClr val="1B2D63"/>
          </a:solidFill>
          <a:ln/>
        </p:spPr>
      </p:sp>
      <p:sp>
        <p:nvSpPr>
          <p:cNvPr id="5" name="Text 3"/>
          <p:cNvSpPr/>
          <p:nvPr/>
        </p:nvSpPr>
        <p:spPr>
          <a:xfrm>
            <a:off x="1016000" y="2783830"/>
            <a:ext cx="2184527"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2B544"/>
                </a:solidFill>
                <a:latin typeface="Rubik" pitchFamily="34" charset="0"/>
                <a:ea typeface="Rubik" pitchFamily="34" charset="-122"/>
                <a:cs typeface="Rubik" pitchFamily="34" charset="-120"/>
              </a:rPr>
              <a:t>40</a:t>
            </a:r>
            <a:endParaRPr lang="en-US" sz="3600" dirty="0"/>
          </a:p>
        </p:txBody>
      </p:sp>
      <p:sp>
        <p:nvSpPr>
          <p:cNvPr id="6" name="Text 4"/>
          <p:cNvSpPr/>
          <p:nvPr/>
        </p:nvSpPr>
        <p:spPr>
          <a:xfrm>
            <a:off x="1016000" y="3337520"/>
            <a:ext cx="218452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9F5"/>
                </a:solidFill>
                <a:latin typeface="Public Sans" pitchFamily="34" charset="0"/>
                <a:ea typeface="Public Sans" pitchFamily="34" charset="-122"/>
                <a:cs typeface="Public Sans" pitchFamily="34" charset="-120"/>
              </a:rPr>
              <a:t>SMART requirements</a:t>
            </a:r>
            <a:endParaRPr lang="en-US" sz="1300" dirty="0"/>
          </a:p>
        </p:txBody>
      </p:sp>
      <p:sp>
        <p:nvSpPr>
          <p:cNvPr id="7" name="Shape 5"/>
          <p:cNvSpPr/>
          <p:nvPr/>
        </p:nvSpPr>
        <p:spPr>
          <a:xfrm>
            <a:off x="3492500" y="2580630"/>
            <a:ext cx="2527300" cy="1422350"/>
          </a:xfrm>
          <a:prstGeom prst="roundRect">
            <a:avLst>
              <a:gd name="adj" fmla="val 7143"/>
            </a:avLst>
          </a:prstGeom>
          <a:solidFill>
            <a:srgbClr val="1B2D63"/>
          </a:solidFill>
          <a:ln/>
        </p:spPr>
      </p:sp>
      <p:sp>
        <p:nvSpPr>
          <p:cNvPr id="8" name="Text 6"/>
          <p:cNvSpPr/>
          <p:nvPr/>
        </p:nvSpPr>
        <p:spPr>
          <a:xfrm>
            <a:off x="3695700" y="2783830"/>
            <a:ext cx="2184527"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2B544"/>
                </a:solidFill>
                <a:latin typeface="Rubik" pitchFamily="34" charset="0"/>
                <a:ea typeface="Rubik" pitchFamily="34" charset="-122"/>
                <a:cs typeface="Rubik" pitchFamily="34" charset="-120"/>
              </a:rPr>
              <a:t>18</a:t>
            </a:r>
            <a:endParaRPr lang="en-US" sz="3600" dirty="0"/>
          </a:p>
        </p:txBody>
      </p:sp>
      <p:sp>
        <p:nvSpPr>
          <p:cNvPr id="9" name="Text 7"/>
          <p:cNvSpPr/>
          <p:nvPr/>
        </p:nvSpPr>
        <p:spPr>
          <a:xfrm>
            <a:off x="3695700" y="3337520"/>
            <a:ext cx="218452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9F5"/>
                </a:solidFill>
                <a:latin typeface="Public Sans" pitchFamily="34" charset="0"/>
                <a:ea typeface="Public Sans" pitchFamily="34" charset="-122"/>
                <a:cs typeface="Public Sans" pitchFamily="34" charset="-120"/>
              </a:rPr>
              <a:t>use cases</a:t>
            </a:r>
            <a:endParaRPr lang="en-US" sz="1300" dirty="0"/>
          </a:p>
        </p:txBody>
      </p:sp>
      <p:sp>
        <p:nvSpPr>
          <p:cNvPr id="10" name="Shape 8"/>
          <p:cNvSpPr/>
          <p:nvPr/>
        </p:nvSpPr>
        <p:spPr>
          <a:xfrm>
            <a:off x="6172200" y="2580630"/>
            <a:ext cx="2527300" cy="1422350"/>
          </a:xfrm>
          <a:prstGeom prst="roundRect">
            <a:avLst>
              <a:gd name="adj" fmla="val 7143"/>
            </a:avLst>
          </a:prstGeom>
          <a:solidFill>
            <a:srgbClr val="1B2D63"/>
          </a:solidFill>
          <a:ln/>
        </p:spPr>
      </p:sp>
      <p:sp>
        <p:nvSpPr>
          <p:cNvPr id="11" name="Text 9"/>
          <p:cNvSpPr/>
          <p:nvPr/>
        </p:nvSpPr>
        <p:spPr>
          <a:xfrm>
            <a:off x="6375400" y="2783830"/>
            <a:ext cx="2184527"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2B544"/>
                </a:solidFill>
                <a:latin typeface="Rubik" pitchFamily="34" charset="0"/>
                <a:ea typeface="Rubik" pitchFamily="34" charset="-122"/>
                <a:cs typeface="Rubik" pitchFamily="34" charset="-120"/>
              </a:rPr>
              <a:t>8</a:t>
            </a:r>
            <a:endParaRPr lang="en-US" sz="3600" dirty="0"/>
          </a:p>
        </p:txBody>
      </p:sp>
      <p:sp>
        <p:nvSpPr>
          <p:cNvPr id="12" name="Text 10"/>
          <p:cNvSpPr/>
          <p:nvPr/>
        </p:nvSpPr>
        <p:spPr>
          <a:xfrm>
            <a:off x="6375400" y="3337520"/>
            <a:ext cx="218452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9F5"/>
                </a:solidFill>
                <a:latin typeface="Public Sans" pitchFamily="34" charset="0"/>
                <a:ea typeface="Public Sans" pitchFamily="34" charset="-122"/>
                <a:cs typeface="Public Sans" pitchFamily="34" charset="-120"/>
              </a:rPr>
              <a:t>actors in the context diagram</a:t>
            </a:r>
            <a:endParaRPr lang="en-US" sz="1300" dirty="0"/>
          </a:p>
        </p:txBody>
      </p:sp>
      <p:sp>
        <p:nvSpPr>
          <p:cNvPr id="13" name="Shape 11"/>
          <p:cNvSpPr/>
          <p:nvPr/>
        </p:nvSpPr>
        <p:spPr>
          <a:xfrm>
            <a:off x="8851900" y="2580630"/>
            <a:ext cx="2527300" cy="1422350"/>
          </a:xfrm>
          <a:prstGeom prst="roundRect">
            <a:avLst>
              <a:gd name="adj" fmla="val 7143"/>
            </a:avLst>
          </a:prstGeom>
          <a:solidFill>
            <a:srgbClr val="1B2D63"/>
          </a:solidFill>
          <a:ln/>
        </p:spPr>
      </p:sp>
      <p:sp>
        <p:nvSpPr>
          <p:cNvPr id="14" name="Text 12"/>
          <p:cNvSpPr/>
          <p:nvPr/>
        </p:nvSpPr>
        <p:spPr>
          <a:xfrm>
            <a:off x="9055100" y="2783830"/>
            <a:ext cx="2184527"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2B544"/>
                </a:solidFill>
                <a:latin typeface="Rubik" pitchFamily="34" charset="0"/>
                <a:ea typeface="Rubik" pitchFamily="34" charset="-122"/>
                <a:cs typeface="Rubik" pitchFamily="34" charset="-120"/>
              </a:rPr>
              <a:t>3</a:t>
            </a:r>
            <a:endParaRPr lang="en-US" sz="3600" dirty="0"/>
          </a:p>
        </p:txBody>
      </p:sp>
      <p:sp>
        <p:nvSpPr>
          <p:cNvPr id="15" name="Text 13"/>
          <p:cNvSpPr/>
          <p:nvPr/>
        </p:nvSpPr>
        <p:spPr>
          <a:xfrm>
            <a:off x="9055100" y="3337520"/>
            <a:ext cx="218452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9F5"/>
                </a:solidFill>
                <a:latin typeface="Public Sans" pitchFamily="34" charset="0"/>
                <a:ea typeface="Public Sans" pitchFamily="34" charset="-122"/>
                <a:cs typeface="Public Sans" pitchFamily="34" charset="-120"/>
              </a:rPr>
              <a:t>SDGs: 4, 9 and 16</a:t>
            </a:r>
            <a:endParaRPr lang="en-US" sz="1300" dirty="0"/>
          </a:p>
        </p:txBody>
      </p:sp>
      <p:sp>
        <p:nvSpPr>
          <p:cNvPr id="16" name="Text 14"/>
          <p:cNvSpPr/>
          <p:nvPr/>
        </p:nvSpPr>
        <p:spPr>
          <a:xfrm>
            <a:off x="812800" y="4307780"/>
            <a:ext cx="10883392"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C9D3EA"/>
                </a:solidFill>
                <a:latin typeface="Public Sans" pitchFamily="34" charset="0"/>
                <a:ea typeface="Public Sans" pitchFamily="34" charset="-122"/>
                <a:cs typeface="Public Sans" pitchFamily="34" charset="-120"/>
              </a:rPr>
              <a:t>Next:</a:t>
            </a:r>
            <a:r>
              <a:rPr lang="en-US" sz="1400" dirty="0">
                <a:solidFill>
                  <a:srgbClr val="C9D3EA"/>
                </a:solidFill>
                <a:latin typeface="Public Sans" pitchFamily="34" charset="0"/>
                <a:ea typeface="Public Sans" pitchFamily="34" charset="-122"/>
                <a:cs typeface="Public Sans" pitchFamily="34" charset="-120"/>
              </a:rPr>
              <a:t> parent survey and interviews, cost and price estimate, UI/UX prototype, then build the Must use cases.</a:t>
            </a:r>
            <a:endParaRPr lang="en-US" sz="1400" dirty="0"/>
          </a:p>
        </p:txBody>
      </p:sp>
      <p:sp>
        <p:nvSpPr>
          <p:cNvPr id="17" name="Text 15"/>
          <p:cNvSpPr/>
          <p:nvPr/>
        </p:nvSpPr>
        <p:spPr>
          <a:xfrm>
            <a:off x="812800" y="6238280"/>
            <a:ext cx="45599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D6"/>
                </a:solidFill>
                <a:latin typeface="Public Sans" pitchFamily="34" charset="0"/>
                <a:ea typeface="Public Sans" pitchFamily="34" charset="-122"/>
                <a:cs typeface="Public Sans" pitchFamily="34" charset="-120"/>
              </a:rPr>
              <a:t>Report: EduLink Software Requirements Specification</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6D6"/>
                </a:solidFill>
                <a:latin typeface="Public Sans" pitchFamily="34" charset="0"/>
                <a:ea typeface="Public Sans" pitchFamily="34" charset="-122"/>
                <a:cs typeface="Public Sans" pitchFamily="34" charset="-120"/>
              </a:rPr>
              <a:t>14</a:t>
            </a:r>
            <a:endParaRPr lang="en-US" sz="1200" dirty="0"/>
          </a:p>
        </p:txBody>
      </p:sp>
    </p:spTree>
  </p:cSld>
  <p:clrMapOvr>
    <a:masterClrMapping/>
  </p:clrMapOvr>
</p:sld>
</file>

<file path=ppt/theme/theme1.xml><?xml version="1.0" encoding="utf-8"?>
<a:theme xmlns:a="http://schemas.openxmlformats.org/drawingml/2006/main" name="EduLink Midterm Presentation">
  <a:themeElements>
    <a:clrScheme name="EduLink Midterm Presentation">
      <a:dk1>
        <a:srgbClr val="12204A"/>
      </a:dk1>
      <a:lt1>
        <a:srgbClr val="F7F6F1"/>
      </a:lt1>
      <a:dk2>
        <a:srgbClr val="4B5674"/>
      </a:dk2>
      <a:lt2>
        <a:srgbClr val="E0E1E0"/>
      </a:lt2>
      <a:accent1>
        <a:srgbClr val="F2B544"/>
      </a:accent1>
      <a:accent2>
        <a:srgbClr val="1B2D63"/>
      </a:accent2>
      <a:accent3>
        <a:srgbClr val="0E7C98"/>
      </a:accent3>
      <a:accent4>
        <a:srgbClr val="A9B6D6"/>
      </a:accent4>
      <a:accent5>
        <a:srgbClr val="1AA6C9"/>
      </a:accent5>
      <a:accent6>
        <a:srgbClr val="5B6478"/>
      </a:accent6>
      <a:hlink>
        <a:srgbClr val="0563C1"/>
      </a:hlink>
      <a:folHlink>
        <a:srgbClr val="954F72"/>
      </a:folHlink>
    </a:clrScheme>
    <a:fontScheme name="EduLink Midterm Presentation">
      <a:majorFont>
        <a:latin typeface="Public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EduLink Midterm Presentation</dc:title>
  <dc:subject/>
  <dc:creator/>
  <cp:lastModifiedBy/>
  <cp:revision>1</cp:revision>
  <dcterms:created xsi:type="dcterms:W3CDTF">2026-10-20T05:50:50Z</dcterms:created>
  <dcterms:modified xsi:type="dcterms:W3CDTF">2026-10-20T05:50:50Z</dcterms:modified>
</cp:coreProperties>
</file>