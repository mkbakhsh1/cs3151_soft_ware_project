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EduLink and say the deck follows the four labs: market study, personas, requirements, UML.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EduLink serves six user groups from Lab 2. Counts of use cases and requirements come from Labs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 for the introduction. Cost and revenue are not defined in the labs, so fill the two bracketed boxes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these four, EduLink also puts every role in one system and adds early-warning insights for struggling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schools use two separate Ministry systems, private schools use paid platforms, and the global leader has a recent security failure. None combines administration, learning, parent communication and fee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PowerSchool comes close, and none of the four documents online fee payment for parents. Competitor analysis is about 1 minute across this slide and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5-minute part. Spend about 30 seconds per slide from here to the architecture slide. Personas are in the appendix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story has a role, a feature and a benefit. Lab 3 lists all 18 in one table, US-1 to US-18.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story usually expands into several requirements, each specific, measurable, achievable, relevant and time-bound.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REQ-1 to REQ-28 come from the 18 user stories; REQ-29 and REQ-30 are non-functional (availability and load).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human roles plus two external systems: the payment gateway and the push and SMS notification service. The grouping into four areas is only for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UC9 is the complex case because the gateway can approve, decline or not answer. Open issues: partial payments, refunds, and how long a payment may stay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Fees Online has three outcomes after the gateway answers and three parallel steps once a payment is approved. The full diagram has swimlanes for Parent, EduLink and Payment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lists the classes and their main relationships in words; the class diagram itself is in Lab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labs do not include an architecture diagram, so this one is drawn from the use cases and requirements: roles and access control, two external systems, daily backups, logs. Targets: 99% availability in school hours and 1,000 concurrent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The labs do not include screens, so these frames are placeholders. Replace them with your prototype screenshots, or demo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Fill the bracketed line with your own reflection on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 also describes Nora, the administrator, in a scenario: she enrolls students, builds the timetable and generates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persona's needs became features, and the features became user stories in Lab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Vague words like friendly, fast and secure cannot be tested. Each one now has a number and a way to measure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Priorities follow MoSCoW: Must, Should, Could, Won't for now. The "Won't" items are out of scope, not rejected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match the steps of the UC9 main success scenario. Step 8 is one self-message because the three actions run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team's own check. A peer-review sheet is included in Lab 4 for the reviewing team to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from open points in the labs themselves: the market study conclusion, the open issues of UC9 and the consistency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AA6C9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CS3151 SOFTWARE ENGINEERING · EFFAT UNIVERSITY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51336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EduLink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373256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bilingual platform for Saudi school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547420"/>
            <a:ext cx="300377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Labs 1 to 4: market study, personas,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requirements and UML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07254" y="5547420"/>
            <a:ext cx="277194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Mohammad Bakhsh</a:t>
            </a:r>
            <a:endParaRPr lang="en-US" sz="1400" dirty="0"/>
          </a:p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Dr. Passent Elkafrawy · Fall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EduLink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4316730" cy="14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web and mobile platform that puts attendance, grades, timetables, assignments, parent messaging and fee payment in one place for Saudi K-12 schools, in Arabic and English.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3342580"/>
            <a:ext cx="89535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E7C9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3870871"/>
            <a:ext cx="101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11350" y="3342580"/>
            <a:ext cx="742206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E7C9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11350" y="3870871"/>
            <a:ext cx="829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56756" y="3342580"/>
            <a:ext cx="998091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E7C9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56756" y="3870871"/>
            <a:ext cx="11367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13375" y="1567805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950" y="1723380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8950" y="2018010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Supervises the school. Daily use, skill high to medium.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74075" y="1567805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9650" y="1723380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29650" y="2018010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Attendance, grades, assignments. Daily use, skill medium.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13375" y="2758976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950" y="2914551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68950" y="3209181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Timetable, grades, assignments. Daily use, skill medium.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74075" y="2758976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9650" y="2914551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29650" y="3209181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Child's progress and fees. Daily use, skill low.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13375" y="3950146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950" y="4105721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68950" y="4400352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Fees, records, documents. Daily use, skill medium.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74075" y="3950146"/>
            <a:ext cx="2901950" cy="1032421"/>
          </a:xfrm>
          <a:prstGeom prst="roundRect">
            <a:avLst>
              <a:gd name="adj" fmla="val 953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9650" y="4105721"/>
            <a:ext cx="266852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support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29650" y="4400352"/>
            <a:ext cx="266852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Accounts and security. Used as needed, skill high.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2340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EduLink · Lab 2 user groups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15405"/>
            <a:ext cx="2134840" cy="2185491"/>
          </a:xfrm>
          <a:prstGeom prst="roundRect">
            <a:avLst>
              <a:gd name="adj" fmla="val 3421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6150" y="1545580"/>
            <a:ext cx="1930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partners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6150" y="1809700"/>
            <a:ext cx="1930725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gateway (Mada, card, Apple Pay); push and SMS provider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58765" y="1415405"/>
            <a:ext cx="1868190" cy="1038771"/>
          </a:xfrm>
          <a:prstGeom prst="roundRect">
            <a:avLst>
              <a:gd name="adj" fmla="val 7030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8940" y="1545580"/>
            <a:ext cx="1658640" cy="21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activities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88940" y="1783308"/>
            <a:ext cx="1658640" cy="566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54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and run the platform; backups; security</a:t>
            </a:r>
            <a:endParaRPr lang="en-US" sz="1054" dirty="0"/>
          </a:p>
        </p:txBody>
      </p:sp>
      <p:sp>
        <p:nvSpPr>
          <p:cNvPr id="9" name="Shape 7"/>
          <p:cNvSpPr/>
          <p:nvPr/>
        </p:nvSpPr>
        <p:spPr>
          <a:xfrm>
            <a:off x="3058765" y="2562126"/>
            <a:ext cx="1868190" cy="1038771"/>
          </a:xfrm>
          <a:prstGeom prst="roundRect">
            <a:avLst>
              <a:gd name="adj" fmla="val 7030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8940" y="2692301"/>
            <a:ext cx="1658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resources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88940" y="2956421"/>
            <a:ext cx="16586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Development team; hosting; school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31730" y="1412230"/>
            <a:ext cx="2128490" cy="2191841"/>
          </a:xfrm>
          <a:prstGeom prst="roundRect">
            <a:avLst>
              <a:gd name="adj" fmla="val 3580"/>
            </a:avLst>
          </a:prstGeom>
          <a:solidFill>
            <a:srgbClr val="1220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58730" y="1539230"/>
            <a:ext cx="1930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Value propositions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8730" y="1803350"/>
            <a:ext cx="1930725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bilingual platform for every role; reliable alerts; online fee payment; built-in security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4995" y="1415405"/>
            <a:ext cx="1868190" cy="1038771"/>
          </a:xfrm>
          <a:prstGeom prst="roundRect">
            <a:avLst>
              <a:gd name="adj" fmla="val 7030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5170" y="1545580"/>
            <a:ext cx="1658640" cy="212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95170" y="1783308"/>
            <a:ext cx="1658640" cy="566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177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Self-service app; alerts by push and SMS</a:t>
            </a:r>
            <a:endParaRPr lang="en-US" sz="1177" dirty="0"/>
          </a:p>
        </p:txBody>
      </p:sp>
      <p:sp>
        <p:nvSpPr>
          <p:cNvPr id="18" name="Shape 16"/>
          <p:cNvSpPr/>
          <p:nvPr/>
        </p:nvSpPr>
        <p:spPr>
          <a:xfrm>
            <a:off x="7264995" y="2562126"/>
            <a:ext cx="1868190" cy="1038771"/>
          </a:xfrm>
          <a:prstGeom prst="roundRect">
            <a:avLst>
              <a:gd name="adj" fmla="val 7030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5170" y="2692301"/>
            <a:ext cx="1658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Channels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95170" y="2956421"/>
            <a:ext cx="1658640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and mobile, Arabic and English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41135" y="1415405"/>
            <a:ext cx="2134890" cy="2185491"/>
          </a:xfrm>
          <a:prstGeom prst="roundRect">
            <a:avLst>
              <a:gd name="adj" fmla="val 3421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1310" y="1545580"/>
            <a:ext cx="19307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71310" y="1809700"/>
            <a:ext cx="1930776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Saudi K-12 schools: principals, teachers, students, parents, staff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759646"/>
            <a:ext cx="5226050" cy="730200"/>
          </a:xfrm>
          <a:prstGeom prst="roundRect">
            <a:avLst>
              <a:gd name="adj" fmla="val 10001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150" y="3889821"/>
            <a:ext cx="51146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6150" y="4153942"/>
            <a:ext cx="511467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[Development, hosting and gateway fees: to estimate]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49975" y="3759646"/>
            <a:ext cx="5226050" cy="730200"/>
          </a:xfrm>
          <a:prstGeom prst="roundRect">
            <a:avLst>
              <a:gd name="adj" fmla="val 10001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0150" y="3889821"/>
            <a:ext cx="51146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0150" y="4153942"/>
            <a:ext cx="511467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[Pricing model: to decide, for example a per-school subscription]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44181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from Labs 1 to 4; bracketed boxes are still open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Problem definition and gaps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3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Saudi schools stitch together a government system for records, another for online learning, and manual channels for everything else. Four gaps remain.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2367211"/>
            <a:ext cx="5181600" cy="1305471"/>
          </a:xfrm>
          <a:prstGeom prst="roundRect">
            <a:avLst>
              <a:gd name="adj" fmla="val 7783"/>
            </a:avLst>
          </a:prstGeom>
          <a:solidFill>
            <a:srgbClr val="1B2D63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595811"/>
            <a:ext cx="486613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Reliable alerts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94630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Push notifications with an SMS fallback, against the missed-alert complaints about Classera.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367211"/>
            <a:ext cx="5181600" cy="1305471"/>
          </a:xfrm>
          <a:prstGeom prst="roundRect">
            <a:avLst>
              <a:gd name="adj" fmla="val 7783"/>
            </a:avLst>
          </a:prstGeom>
          <a:solidFill>
            <a:srgbClr val="1B2D63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595811"/>
            <a:ext cx="486613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Online fee payment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26200" y="294630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None of the four systems documents it for parents. A parent survey still has to confirm this.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875881"/>
            <a:ext cx="5181600" cy="1305471"/>
          </a:xfrm>
          <a:prstGeom prst="roundRect">
            <a:avLst>
              <a:gd name="adj" fmla="val 7783"/>
            </a:avLst>
          </a:prstGeom>
          <a:solidFill>
            <a:srgbClr val="1B2D63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4104481"/>
            <a:ext cx="486613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Arabic-first, simple interface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1400" y="445497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for phones and low-skill parents, against the dated look of PowerSchool.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875881"/>
            <a:ext cx="5181600" cy="1305471"/>
          </a:xfrm>
          <a:prstGeom prst="roundRect">
            <a:avLst>
              <a:gd name="adj" fmla="val 7783"/>
            </a:avLst>
          </a:prstGeom>
          <a:solidFill>
            <a:srgbClr val="1B2D63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4104481"/>
            <a:ext cx="486613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Security by default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26200" y="445497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Role-based access and a second factor for staff, the controls missing in the PowerSchool breach.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3748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1 market study, sections 5 and 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Market study: four existing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6303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Saudi general education has 6.72 million students, 513,000 teachers and 36,800 schools.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7820"/>
          <a:ext cx="10553700" cy="2303363"/>
        </p:xfrm>
        <a:graphic>
          <a:graphicData uri="http://schemas.openxmlformats.org/drawingml/2006/table">
            <a:tbl>
              <a:tblPr/>
              <a:tblGrid>
                <a:gridCol w="1794129"/>
                <a:gridCol w="1899666"/>
                <a:gridCol w="3482721"/>
                <a:gridCol w="3377184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System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Owner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Scale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Main complaint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Noor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Ministry of Education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Records, results and attendance for all school levels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Companion app rated 2.3/5; login errors and freezing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Madrasati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Ministry of Education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About 6 million students in 2020-21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Online learning only, no administration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Classera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Saudi-founded, private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10+ million users; about 80% of A-class private schools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Missed alerts for new assignments and tests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PowerSchool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 company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45+ million students in 90+ countries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Called dated and complicated; December 2024 breach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22824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1 market study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Feature comparison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5730"/>
          <a:ext cx="10553700" cy="3326805"/>
        </p:xfrm>
        <a:graphic>
          <a:graphicData uri="http://schemas.openxmlformats.org/drawingml/2006/table">
            <a:tbl>
              <a:tblPr/>
              <a:tblGrid>
                <a:gridCol w="3166110"/>
                <a:gridCol w="1477518"/>
                <a:gridCol w="1477518"/>
                <a:gridCol w="1477518"/>
                <a:gridCol w="1477518"/>
                <a:gridCol w="147751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Feature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Noor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Madrasati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Classera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PowerSchool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Digital attendance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Timetable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Online lessons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Assignments and grading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 portal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Teacher-parent messaging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Alerts for struggling students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Administration and learning together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Online fee payment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Yes</a:t>
                      </a:r>
                      <a:endParaRPr lang="en-US" sz="12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2815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1 feature comparison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Analysis steps: from users to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2648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47800" y="1513830"/>
            <a:ext cx="302768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47800" y="1823690"/>
            <a:ext cx="35274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Six user groups and four personas (Lab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202061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47800" y="2189411"/>
            <a:ext cx="33130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2499271"/>
            <a:ext cx="38598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 stories in role, feature, benefit form (Lab 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877641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47800" y="2864991"/>
            <a:ext cx="23815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SMART requirements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7800" y="3174851"/>
            <a:ext cx="27745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30 testable requirements (Lab 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553222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47800" y="3540571"/>
            <a:ext cx="35578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47800" y="3850432"/>
            <a:ext cx="41450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 use cases, 8 actors, MoSCoW priorities (Lab 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4228802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47800" y="4216152"/>
            <a:ext cx="32380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UML diagrams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7800" y="4526012"/>
            <a:ext cx="37724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Activity, sequence and domain model (Lab 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4904383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47800" y="4891732"/>
            <a:ext cx="270275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0" y="5201593"/>
            <a:ext cx="31488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the parts of EduLink fit together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2798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Labs 2, 3 and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18 user stories across six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0"/>
            <a:ext cx="3420517" cy="1244501"/>
          </a:xfrm>
          <a:prstGeom prst="roundRect">
            <a:avLst>
              <a:gd name="adj" fmla="val 8164"/>
            </a:avLst>
          </a:prstGeom>
          <a:solidFill>
            <a:srgbClr val="1B2D63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17030"/>
            <a:ext cx="3104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2006550"/>
            <a:ext cx="310454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5717" y="1513830"/>
            <a:ext cx="3420566" cy="1244501"/>
          </a:xfrm>
          <a:prstGeom prst="roundRect">
            <a:avLst>
              <a:gd name="adj" fmla="val 8164"/>
            </a:avLst>
          </a:prstGeom>
          <a:solidFill>
            <a:srgbClr val="1B2D63"/>
          </a:solidFill>
          <a:ln/>
        </p:spPr>
      </p:sp>
      <p:sp>
        <p:nvSpPr>
          <p:cNvPr id="7" name="Text 5"/>
          <p:cNvSpPr/>
          <p:nvPr/>
        </p:nvSpPr>
        <p:spPr>
          <a:xfrm>
            <a:off x="4588917" y="1717030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WANT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88917" y="2006550"/>
            <a:ext cx="310459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 school fees online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8683" y="1513830"/>
            <a:ext cx="3420517" cy="1244501"/>
          </a:xfrm>
          <a:prstGeom prst="roundRect">
            <a:avLst>
              <a:gd name="adj" fmla="val 8164"/>
            </a:avLst>
          </a:prstGeom>
          <a:solidFill>
            <a:srgbClr val="1B2D63"/>
          </a:solidFill>
          <a:ln/>
        </p:spPr>
      </p:sp>
      <p:sp>
        <p:nvSpPr>
          <p:cNvPr id="10" name="Text 8"/>
          <p:cNvSpPr/>
          <p:nvPr/>
        </p:nvSpPr>
        <p:spPr>
          <a:xfrm>
            <a:off x="8161883" y="1717030"/>
            <a:ext cx="3104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THAT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1883" y="2006550"/>
            <a:ext cx="310454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avoid visiting the school and never miss a deadline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9150" y="3018681"/>
            <a:ext cx="1621334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900" y="3177431"/>
            <a:ext cx="135463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77900" y="3649861"/>
            <a:ext cx="1354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Principal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5584" y="3018681"/>
            <a:ext cx="1621383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4334" y="3177431"/>
            <a:ext cx="135468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64334" y="3649861"/>
            <a:ext cx="1354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92067" y="3018681"/>
            <a:ext cx="1621334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0817" y="3177431"/>
            <a:ext cx="135463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50817" y="3649861"/>
            <a:ext cx="1354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8500" y="3018681"/>
            <a:ext cx="1621383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7250" y="3177431"/>
            <a:ext cx="135468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37250" y="3649861"/>
            <a:ext cx="1354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64984" y="3018681"/>
            <a:ext cx="1621383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3734" y="3177431"/>
            <a:ext cx="135468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123734" y="3649861"/>
            <a:ext cx="1354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51467" y="3018681"/>
            <a:ext cx="1621383" cy="1003250"/>
          </a:xfrm>
          <a:prstGeom prst="roundRect">
            <a:avLst>
              <a:gd name="adj" fmla="val 9494"/>
            </a:avLst>
          </a:prstGeom>
          <a:noFill/>
          <a:ln w="12700">
            <a:solidFill>
              <a:srgbClr val="3447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0217" y="3177431"/>
            <a:ext cx="135468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910217" y="3649861"/>
            <a:ext cx="1354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support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34753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3, exercise 4.1 (US-13 shown)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From story to SMART requirement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0"/>
            <a:ext cx="3048000" cy="2991842"/>
          </a:xfrm>
          <a:prstGeom prst="roundRect">
            <a:avLst>
              <a:gd name="adj" fmla="val 3396"/>
            </a:avLst>
          </a:prstGeom>
          <a:solidFill>
            <a:srgbClr val="12204A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42430"/>
            <a:ext cx="26685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US-5 · TEACHER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400" y="2057350"/>
            <a:ext cx="266852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want to record attendance digitally so that I save class time and avoid paperwork errors.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67175" y="1517005"/>
            <a:ext cx="7308850" cy="1413371"/>
          </a:xfrm>
          <a:prstGeom prst="roundRect">
            <a:avLst>
              <a:gd name="adj" fmla="val 696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8150" y="1697980"/>
            <a:ext cx="715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REQ-9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48150" y="1974800"/>
            <a:ext cx="715530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Teachers can mark present, absent or late for a class of up to 40 students in under 1 minute.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48150" y="2536081"/>
            <a:ext cx="715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S: three statuses · M: time measured · A: single-page list · R: saves class time · T: under 1 minute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7175" y="3089126"/>
            <a:ext cx="7308850" cy="1413371"/>
          </a:xfrm>
          <a:prstGeom prst="roundRect">
            <a:avLst>
              <a:gd name="adj" fmla="val 696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8150" y="3270101"/>
            <a:ext cx="715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REQ-10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48150" y="3546921"/>
            <a:ext cx="715530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Teachers may edit attendance within 24 hours; later edits need principal approval and are logged.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48150" y="4108202"/>
            <a:ext cx="71553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S: 24-hour rule · M: edits blocked or logged · A: workflow · R: data integrity · T: 24 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2683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3, exercise 4.2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 requirements by area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4940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Oversight and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67200" y="1521420"/>
            <a:ext cx="5334000" cy="304800"/>
          </a:xfrm>
          <a:prstGeom prst="roundRect">
            <a:avLst>
              <a:gd name="adj" fmla="val 16667"/>
            </a:avLst>
          </a:prstGeom>
          <a:solidFill>
            <a:srgbClr val="0E7C98"/>
          </a:solidFill>
          <a:ln/>
        </p:spPr>
      </p:sp>
      <p:sp>
        <p:nvSpPr>
          <p:cNvPr id="5" name="Text 3"/>
          <p:cNvSpPr/>
          <p:nvPr/>
        </p:nvSpPr>
        <p:spPr>
          <a:xfrm>
            <a:off x="9753600" y="1513830"/>
            <a:ext cx="18181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199643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Attendance and grades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67200" y="1968450"/>
            <a:ext cx="4572000" cy="304800"/>
          </a:xfrm>
          <a:prstGeom prst="roundRect">
            <a:avLst>
              <a:gd name="adj" fmla="val 16667"/>
            </a:avLst>
          </a:prstGeom>
          <a:solidFill>
            <a:srgbClr val="0E7C98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1960860"/>
            <a:ext cx="19962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244346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Assignments, messaging, student 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7200" y="2415480"/>
            <a:ext cx="4572000" cy="304800"/>
          </a:xfrm>
          <a:prstGeom prst="roundRect">
            <a:avLst>
              <a:gd name="adj" fmla="val 16667"/>
            </a:avLst>
          </a:prstGeom>
          <a:solidFill>
            <a:srgbClr val="0E7C98"/>
          </a:solidFill>
          <a:ln/>
        </p:spPr>
      </p:sp>
      <p:sp>
        <p:nvSpPr>
          <p:cNvPr id="11" name="Text 9"/>
          <p:cNvSpPr/>
          <p:nvPr/>
        </p:nvSpPr>
        <p:spPr>
          <a:xfrm>
            <a:off x="8991600" y="2407890"/>
            <a:ext cx="19962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289049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Fees and language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7200" y="2862511"/>
            <a:ext cx="3810000" cy="304800"/>
          </a:xfrm>
          <a:prstGeom prst="roundRect">
            <a:avLst>
              <a:gd name="adj" fmla="val 16667"/>
            </a:avLst>
          </a:prstGeom>
          <a:solidFill>
            <a:srgbClr val="0E7C9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854920"/>
            <a:ext cx="19848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" y="333752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Enrollment and timetable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67200" y="3309541"/>
            <a:ext cx="3048000" cy="304800"/>
          </a:xfrm>
          <a:prstGeom prst="roundRect">
            <a:avLst>
              <a:gd name="adj" fmla="val 16667"/>
            </a:avLst>
          </a:prstGeom>
          <a:solidFill>
            <a:srgbClr val="0E7C98"/>
          </a:solidFill>
          <a:ln/>
        </p:spPr>
      </p:sp>
      <p:sp>
        <p:nvSpPr>
          <p:cNvPr id="17" name="Text 15"/>
          <p:cNvSpPr/>
          <p:nvPr/>
        </p:nvSpPr>
        <p:spPr>
          <a:xfrm>
            <a:off x="7467600" y="3301950"/>
            <a:ext cx="20672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2800" y="3784550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Non-functional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67200" y="3756571"/>
            <a:ext cx="1524000" cy="304800"/>
          </a:xfrm>
          <a:prstGeom prst="roundRect">
            <a:avLst>
              <a:gd name="adj" fmla="val 16667"/>
            </a:avLst>
          </a:prstGeom>
          <a:solidFill>
            <a:srgbClr val="E0A02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748980"/>
            <a:ext cx="1994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2800" y="43230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requirement has a named actor, a measurable value and a time condition, so it can be tested.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3036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3, exercises 4.2 and 4.3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Eight actors and 18 use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8430"/>
            <a:ext cx="940842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Principal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55242" y="1488430"/>
            <a:ext cx="877937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779" y="1488430"/>
            <a:ext cx="883543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9922" y="1488430"/>
            <a:ext cx="782290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3812" y="1488430"/>
            <a:ext cx="1296095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01507" y="1488430"/>
            <a:ext cx="1064320" cy="340320"/>
          </a:xfrm>
          <a:prstGeom prst="roundRect">
            <a:avLst>
              <a:gd name="adj" fmla="val 50000"/>
            </a:avLst>
          </a:prstGeom>
          <a:solidFill>
            <a:srgbClr val="1220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73776" y="1494780"/>
            <a:ext cx="2340074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87A1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Gateway (external)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150" y="1936700"/>
            <a:ext cx="2466677" cy="3276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87A1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Notification Service (external)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2502446"/>
            <a:ext cx="2520950" cy="2353022"/>
          </a:xfrm>
          <a:prstGeom prst="roundRect">
            <a:avLst>
              <a:gd name="adj" fmla="val 418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1550" y="265802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550" y="297805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 Log 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1550" y="3267571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UC16 Manage Accounts and Roles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1550" y="3770412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UC17 Back Up and Restore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1550" y="4273252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UC18 Choose Interface 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5675" y="2502446"/>
            <a:ext cx="2520950" cy="2353022"/>
          </a:xfrm>
          <a:prstGeom prst="roundRect">
            <a:avLst>
              <a:gd name="adj" fmla="val 418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1250" y="265802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1250" y="297805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UC2 Record Attendance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1250" y="326757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UC3 Notify Parent of Absence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1250" y="355709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UC4 Enter Grades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1250" y="384661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UC5 Post Assignment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1250" y="413613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UC6 Submit Assignment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1250" y="442565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UC7 Take Quiz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5375" y="2502446"/>
            <a:ext cx="2520950" cy="2353022"/>
          </a:xfrm>
          <a:prstGeom prst="roundRect">
            <a:avLst>
              <a:gd name="adj" fmla="val 418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0950" y="265802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0950" y="2978051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UC8 View Grades and Attendance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0950" y="348089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UC13 Generate Reports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0950" y="377041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UC14 View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0950" y="4059932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UC15 Message Between Parent and Teacher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55075" y="2502446"/>
            <a:ext cx="2520950" cy="2353022"/>
          </a:xfrm>
          <a:prstGeom prst="roundRect">
            <a:avLst>
              <a:gd name="adj" fmla="val 4183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10650" y="265802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Fees and records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10650" y="297805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UC9 Pay Fees Online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10650" y="326757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UC10 Track Fee Payments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10650" y="3557091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UC11 Enroll Student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10650" y="3846612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UC12 Build Timetable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80"/>
            <a:ext cx="2429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UC9 Pay Fees Online, fully dressed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8430"/>
            <a:ext cx="53108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Main scenario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795760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Parent opens Fees and selects a child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072580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System shows outstanding fees and history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49401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Parent picks a fee and a method: Mada, card or Apple Pay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626221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System shows the amount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903041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Parent confirms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179862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System sends the request to the gateway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456682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Gateway approves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733502"/>
            <a:ext cx="53108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System records the payment, updates the balance and makes the receipt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4223643"/>
            <a:ext cx="53108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System sends a confirmation and shows the receipt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6175" y="1491605"/>
            <a:ext cx="5149850" cy="1926382"/>
          </a:xfrm>
          <a:prstGeom prst="roundRect">
            <a:avLst>
              <a:gd name="adj" fmla="val 5109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7150" y="1672580"/>
            <a:ext cx="493153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Extensions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7150" y="197991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2a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 outstanding fee: message shown, case 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7150" y="2256730"/>
            <a:ext cx="49315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7a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Gateway declines: reason shown; retry, choose another method or cancel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7150" y="2746871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7b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 response: payment pending, balance unchanged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7150" y="3023691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9a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Push fails: receipt stays in payment history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3000" y="3548162"/>
            <a:ext cx="5156200" cy="1089571"/>
          </a:xfrm>
          <a:prstGeom prst="roundRect">
            <a:avLst>
              <a:gd name="adj" fmla="val 9325"/>
            </a:avLst>
          </a:prstGeom>
          <a:solidFill>
            <a:srgbClr val="1220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725962"/>
            <a:ext cx="494461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Special requirements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033292"/>
            <a:ext cx="49446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Receipt within 10 seconds of approval. Card details are handled by the gateway, never stored by EduLink.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2464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Activity flow: Pay Fees Online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0"/>
            <a:ext cx="3014117" cy="1087041"/>
          </a:xfrm>
          <a:prstGeom prst="roundRect">
            <a:avLst>
              <a:gd name="adj" fmla="val 9346"/>
            </a:avLst>
          </a:prstGeom>
          <a:solidFill>
            <a:srgbClr val="1B2D63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691630"/>
            <a:ext cx="27382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0600" y="1943050"/>
            <a:ext cx="273827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Selects a fee and a method, then confirms</a:t>
            </a:r>
            <a:endParaRPr lang="en-US" sz="14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79317" y="1943050"/>
            <a:ext cx="457200" cy="228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88917" y="1513830"/>
            <a:ext cx="3014166" cy="1087041"/>
          </a:xfrm>
          <a:prstGeom prst="roundRect">
            <a:avLst>
              <a:gd name="adj" fmla="val 9346"/>
            </a:avLst>
          </a:prstGeom>
          <a:solidFill>
            <a:srgbClr val="1B2D63"/>
          </a:solidFill>
          <a:ln/>
        </p:spPr>
      </p:sp>
      <p:sp>
        <p:nvSpPr>
          <p:cNvPr id="8" name="Text 5"/>
          <p:cNvSpPr/>
          <p:nvPr/>
        </p:nvSpPr>
        <p:spPr>
          <a:xfrm>
            <a:off x="4766717" y="1691630"/>
            <a:ext cx="27383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EduLink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66717" y="1943050"/>
            <a:ext cx="273832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Sends the payment request to the gateway</a:t>
            </a:r>
            <a:endParaRPr lang="en-US" sz="14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55483" y="1943050"/>
            <a:ext cx="4572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365083" y="1513830"/>
            <a:ext cx="3014117" cy="1087041"/>
          </a:xfrm>
          <a:prstGeom prst="roundRect">
            <a:avLst>
              <a:gd name="adj" fmla="val 9346"/>
            </a:avLst>
          </a:prstGeom>
          <a:solidFill>
            <a:srgbClr val="F2B544"/>
          </a:solidFill>
          <a:ln/>
        </p:spPr>
      </p:sp>
      <p:sp>
        <p:nvSpPr>
          <p:cNvPr id="12" name="Text 8"/>
          <p:cNvSpPr/>
          <p:nvPr/>
        </p:nvSpPr>
        <p:spPr>
          <a:xfrm>
            <a:off x="8542883" y="1691630"/>
            <a:ext cx="27382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42883" y="1943050"/>
            <a:ext cx="273827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Answers: approved, declined or no response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9150" y="2861221"/>
            <a:ext cx="3407817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1AA6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3300" y="3045371"/>
            <a:ext cx="313070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A6C9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03300" y="3352701"/>
            <a:ext cx="313070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Record the payment, update the balance and generate the receipt in parallel. Then send the confirmation and show the receipt together.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92067" y="2861221"/>
            <a:ext cx="3407866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F2B5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6217" y="3045371"/>
            <a:ext cx="313075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Declined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6217" y="3352701"/>
            <a:ext cx="313075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Show the reason. The parent retries, chooses another method (back to step 3) or cancels, and the case ends.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965033" y="2861221"/>
            <a:ext cx="3407817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A9B6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49183" y="3045371"/>
            <a:ext cx="313070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response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149183" y="3352701"/>
            <a:ext cx="313070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the payment pending, leave the balance unchanged and ask the parent to check the status later.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12800" y="465048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Guard 2a, no outstanding fee, ends the case before step 3. A simplified view of the swimlane diagram in Lab 4.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6238280"/>
            <a:ext cx="2470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Domain model: 18 classes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91605"/>
            <a:ext cx="3414167" cy="1522561"/>
          </a:xfrm>
          <a:prstGeom prst="roundRect">
            <a:avLst>
              <a:gd name="adj" fmla="val 646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7258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79910"/>
            <a:ext cx="314378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Student, Parent, Teacher, Administrator and Principal specialize User. A Parent has one or more children; a Student has one or more guardians.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8892" y="1491605"/>
            <a:ext cx="3414167" cy="1522561"/>
          </a:xfrm>
          <a:prstGeom prst="roundRect">
            <a:avLst>
              <a:gd name="adj" fmla="val 646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7258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79910"/>
            <a:ext cx="314378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SchoolClass, Period, Subject, AttendanceRecord. A class has many Periods, each for one Subject and one Teacher.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61809" y="1491605"/>
            <a:ext cx="3414216" cy="1522561"/>
          </a:xfrm>
          <a:prstGeom prst="roundRect">
            <a:avLst>
              <a:gd name="adj" fmla="val 646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7258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79910"/>
            <a:ext cx="314383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Assignment, Submission, GradeRecord. A Submission belongs to one Assignment; GradeRecords belong to a Student and a Subject.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172916"/>
            <a:ext cx="3414167" cy="1555601"/>
          </a:xfrm>
          <a:prstGeom prst="roundRect">
            <a:avLst>
              <a:gd name="adj" fmla="val 6327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3353891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950" y="3661221"/>
            <a:ext cx="314378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Fee, Payment, Receipt. A Student is charged Fees; a Parent makes Payments that settle a Fee; a Payment has at most one Receipt.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8892" y="3172916"/>
            <a:ext cx="3414167" cy="1555601"/>
          </a:xfrm>
          <a:prstGeom prst="roundRect">
            <a:avLst>
              <a:gd name="adj" fmla="val 6327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867" y="3353891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9867" y="3661221"/>
            <a:ext cx="3143783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Notification, Message. Notifications go to Parents; a Message has one sender and one recipient.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8634" y="3169741"/>
            <a:ext cx="3420566" cy="1561951"/>
          </a:xfrm>
          <a:prstGeom prst="roundRect">
            <a:avLst>
              <a:gd name="adj" fmla="val 6505"/>
            </a:avLst>
          </a:prstGeom>
          <a:solidFill>
            <a:srgbClr val="12204A"/>
          </a:solidFill>
          <a:ln/>
        </p:spPr>
      </p:sp>
      <p:sp>
        <p:nvSpPr>
          <p:cNvPr id="19" name="Text 17"/>
          <p:cNvSpPr/>
          <p:nvPr/>
        </p:nvSpPr>
        <p:spPr>
          <a:xfrm>
            <a:off x="8136434" y="3347541"/>
            <a:ext cx="315691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18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36434" y="3913932"/>
            <a:ext cx="315691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classes drawn from the nouns in the stories and use cases, with no screens or database tables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24691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Proposed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205"/>
            <a:ext cx="7359650" cy="1001911"/>
          </a:xfrm>
          <a:prstGeom prst="roundRect">
            <a:avLst>
              <a:gd name="adj" fmla="val 982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1550" y="1621780"/>
            <a:ext cx="7259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550" y="1885900"/>
            <a:ext cx="72599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and mobile, Arabic and English, for six roles: principal, teacher, student, parent, administrator, IT support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572891"/>
            <a:ext cx="7366000" cy="1920081"/>
          </a:xfrm>
          <a:prstGeom prst="roundRect">
            <a:avLst>
              <a:gd name="adj" fmla="val 5291"/>
            </a:avLst>
          </a:prstGeom>
          <a:solidFill>
            <a:srgbClr val="12204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725291"/>
            <a:ext cx="72730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EduLink 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200" y="3040211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Login and roles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52800" y="3040211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40400" y="3040211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Grades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5200" y="3507532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2800" y="3507532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40400" y="3507532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Fees and payments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5200" y="3974852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2800" y="3974852"/>
            <a:ext cx="2286000" cy="365720"/>
          </a:xfrm>
          <a:prstGeom prst="roundRect">
            <a:avLst>
              <a:gd name="adj" fmla="val 13890"/>
            </a:avLst>
          </a:prstGeom>
          <a:solidFill>
            <a:srgbClr val="1B2D63"/>
          </a:solidFill>
          <a:ln/>
        </p:spPr>
        <p:txBody>
          <a:bodyPr wrap="square" lIns="86721" tIns="61321" rIns="24237" bIns="359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Reports and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4597747"/>
            <a:ext cx="7359650" cy="788591"/>
          </a:xfrm>
          <a:prstGeom prst="roundRect">
            <a:avLst>
              <a:gd name="adj" fmla="val 12481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" y="4753322"/>
            <a:ext cx="7259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1550" y="5017443"/>
            <a:ext cx="7259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School records and logs kept 12 months; daily backup at 02:00, kept 30 days</a:t>
            </a:r>
            <a:endParaRPr lang="en-US" sz="1200" dirty="0"/>
          </a:p>
        </p:txBody>
      </p:sp>
      <p:pic>
        <p:nvPicPr>
          <p:cNvPr id="19" name="Image 0" descr="arrow-lef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31200" y="3311971"/>
            <a:ext cx="457200" cy="228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947150" y="2360861"/>
            <a:ext cx="2425700" cy="1221581"/>
          </a:xfrm>
          <a:prstGeom prst="roundRect">
            <a:avLst>
              <a:gd name="adj" fmla="val 7797"/>
            </a:avLst>
          </a:prstGeom>
          <a:solidFill>
            <a:srgbClr val="FFFEFA"/>
          </a:solidFill>
          <a:ln w="12700">
            <a:solidFill>
              <a:srgbClr val="B87A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05900" y="251961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05900" y="2783731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Mada, card, Apple Pay. Card details never stored by EduLink.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947150" y="3696742"/>
            <a:ext cx="2425700" cy="794941"/>
          </a:xfrm>
          <a:prstGeom prst="roundRect">
            <a:avLst>
              <a:gd name="adj" fmla="val 11982"/>
            </a:avLst>
          </a:prstGeom>
          <a:solidFill>
            <a:srgbClr val="FFFEFA"/>
          </a:solidFill>
          <a:ln w="12700">
            <a:solidFill>
              <a:srgbClr val="B87A1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05900" y="385549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05900" y="4119612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Push first, SMS if push fails.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2800" y="6238280"/>
            <a:ext cx="31006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Proposed, derived from Labs 3 and 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UI/UX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50" y="1520180"/>
            <a:ext cx="3407817" cy="2400300"/>
          </a:xfrm>
          <a:prstGeom prst="roundRect">
            <a:avLst>
              <a:gd name="adj" fmla="val 3968"/>
            </a:avLst>
          </a:prstGeom>
          <a:noFill/>
          <a:ln w="12700">
            <a:solidFill>
              <a:srgbClr val="6F7FAE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[Add screenshot or prototype link]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4028430"/>
            <a:ext cx="3523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Teacher: record attendance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378920"/>
            <a:ext cx="3523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92067" y="1520180"/>
            <a:ext cx="3407866" cy="2400300"/>
          </a:xfrm>
          <a:prstGeom prst="roundRect">
            <a:avLst>
              <a:gd name="adj" fmla="val 3968"/>
            </a:avLst>
          </a:prstGeom>
          <a:noFill/>
          <a:ln w="12700">
            <a:solidFill>
              <a:srgbClr val="6F7FAE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[Add screenshot or prototype link]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5717" y="4028430"/>
            <a:ext cx="35231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Parent: absence alert and fee payment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5717" y="4378920"/>
            <a:ext cx="35231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UC3 and UC9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65033" y="1520180"/>
            <a:ext cx="3407817" cy="2400300"/>
          </a:xfrm>
          <a:prstGeom prst="roundRect">
            <a:avLst>
              <a:gd name="adj" fmla="val 3968"/>
            </a:avLst>
          </a:prstGeom>
          <a:noFill/>
          <a:ln w="12700">
            <a:solidFill>
              <a:srgbClr val="6F7FAE"/>
            </a:solidFill>
            <a:prstDash val="dash"/>
          </a:ln>
        </p:spPr>
        <p:txBody>
          <a:bodyPr wrap="square" lIns="130852" tIns="130852" rIns="130852" bIns="13085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[Add screenshot or prototype link]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8683" y="4028430"/>
            <a:ext cx="3523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Principal: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8683" y="4378920"/>
            <a:ext cx="3523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UC14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3192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 path: one minute, three screens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Reflection and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5181600" cy="2172791"/>
          </a:xfrm>
          <a:prstGeom prst="roundRect">
            <a:avLst>
              <a:gd name="adj" fmla="val 4530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48780"/>
            <a:ext cx="48595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After the prototype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124670"/>
            <a:ext cx="485959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Our own consistency check passed 3 of 5 points. Two fixes remain: draw the push-failure branch and align class names with the use cases.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972941"/>
            <a:ext cx="48595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[Add what the prototype taught the team]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1513830"/>
            <a:ext cx="5175250" cy="2179141"/>
          </a:xfrm>
          <a:prstGeom prst="roundRect">
            <a:avLst>
              <a:gd name="adj" fmla="val 4662"/>
            </a:avLst>
          </a:prstGeom>
          <a:solidFill>
            <a:srgbClr val="12204A"/>
          </a:solidFill>
          <a:ln/>
        </p:spPr>
      </p:sp>
      <p:sp>
        <p:nvSpPr>
          <p:cNvPr id="8" name="Text 6"/>
          <p:cNvSpPr/>
          <p:nvPr/>
        </p:nvSpPr>
        <p:spPr>
          <a:xfrm>
            <a:off x="6432550" y="1742430"/>
            <a:ext cx="48595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5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2550" y="2118320"/>
            <a:ext cx="485959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Saudi schools need one reliable, Arabic-first platform. EduLink combines every role, dependable alerts, online fee payment and built-in security.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32550" y="2966591"/>
            <a:ext cx="48595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 stories, 30 SMART requirements and 18 use cases define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42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Labs 1 and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Four personas from Lab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05"/>
            <a:ext cx="2520950" cy="2962523"/>
          </a:xfrm>
          <a:prstGeom prst="roundRect">
            <a:avLst>
              <a:gd name="adj" fmla="val 390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97980"/>
            <a:ext cx="22237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6950" y="207387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 45, master in business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950" y="238879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Supervise the school from one place.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291703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Pain.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Has to follow every teacher individually.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950" y="3445272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Desktop in the office all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5675" y="1517005"/>
            <a:ext cx="2520950" cy="2962523"/>
          </a:xfrm>
          <a:prstGeom prst="roundRect">
            <a:avLst>
              <a:gd name="adj" fmla="val 390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6650" y="1697980"/>
            <a:ext cx="22237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Teacher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76650" y="2073870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Sara, age 32, bachelor's in maths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6650" y="2602111"/>
            <a:ext cx="222377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Record attendance and grades fast and spot struggling students early.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76650" y="3343672"/>
            <a:ext cx="222377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Pain.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Paper sheets, repeated grade entry, slow contact with parents.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6650" y="4085233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Laptop in class.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5375" y="1517005"/>
            <a:ext cx="2520950" cy="2962523"/>
          </a:xfrm>
          <a:prstGeom prst="roundRect">
            <a:avLst>
              <a:gd name="adj" fmla="val 390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6350" y="1697980"/>
            <a:ext cx="22237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6350" y="207387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6350" y="238879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Solve assignments and quizzes and track attendance.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6350" y="291703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Pain.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Every assignment lives on a separate platform.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6350" y="344527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Desktop at home.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55075" y="1517005"/>
            <a:ext cx="2520950" cy="2962523"/>
          </a:xfrm>
          <a:prstGeom prst="roundRect">
            <a:avLst>
              <a:gd name="adj" fmla="val 3904"/>
            </a:avLst>
          </a:prstGeom>
          <a:solidFill>
            <a:srgbClr val="FFFEFA"/>
          </a:solidFill>
          <a:ln w="6350">
            <a:solidFill>
              <a:srgbClr val="DCDF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36050" y="1697980"/>
            <a:ext cx="22237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7C9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36050" y="2073870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Mohammed, age 40, diploma in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36050" y="2602111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Goal.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Track his child's academic status.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36050" y="3130352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Pain.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Should not need to visit the school; low technical skill.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36050" y="3658592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Context.</a:t>
            </a:r>
            <a:r>
              <a:rPr lang="en-US" sz="1200" dirty="0">
                <a:solidFill>
                  <a:srgbClr val="122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Phone, from anywhere.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27848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2 persona templates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Personas mapped to features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6530"/>
          <a:ext cx="10553700" cy="2813844"/>
        </p:xfrm>
        <a:graphic>
          <a:graphicData uri="http://schemas.openxmlformats.org/drawingml/2006/table">
            <a:tbl>
              <a:tblPr/>
              <a:tblGrid>
                <a:gridCol w="1899666"/>
                <a:gridCol w="6754368"/>
                <a:gridCol w="189966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Persona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Features needed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Priority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Manager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Student enrollment and records; timetable builder with conflict detection; role-based access; reports and dashboard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High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Teacher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Digital attendance; gradebook with automatic calculations; assignment posting and submission tracking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High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Teacher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Messaging with parents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Medium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Real-time grades and attendance; bilingual interface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High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Student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Solve assignments; track attendance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High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750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2, part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Vague wording rewritten as SMART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01130"/>
          <a:ext cx="10553700" cy="2258864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Vague (rejected)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SMART version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58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system should be user-friendly.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new parent logs in and views grades within 3 clicks and 2 minutes without training, tested with 5 users.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45D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system must be fast.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Every page responds in under 3 seconds with 1,000 concurrent users.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The system must be secure.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Role-based access, 15-minute lock after 5 failed logins, data changes logged for 12 months.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Teachers should enter grades easily.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7F6F1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 teacher enters grades for 40 students in under 5 minutes using one table.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8859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Availability target: at least 99% during school hours, 07:00 to 15:00, Sunday to Thursday.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33414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3, exercise 4.3 and REQ-29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12 of 18 use cases are Must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30"/>
            <a:ext cx="2527300" cy="2280692"/>
          </a:xfrm>
          <a:prstGeom prst="roundRect">
            <a:avLst>
              <a:gd name="adj" fmla="val 4455"/>
            </a:avLst>
          </a:prstGeom>
          <a:solidFill>
            <a:srgbClr val="1B2D63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67830"/>
            <a:ext cx="218452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6000" y="2489150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788841"/>
            <a:ext cx="218452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 in, attendance, grades, assignments, fees, enrollment, timetable, accounts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2500" y="1564630"/>
            <a:ext cx="2527300" cy="2280692"/>
          </a:xfrm>
          <a:prstGeom prst="roundRect">
            <a:avLst>
              <a:gd name="adj" fmla="val 4455"/>
            </a:avLst>
          </a:prstGeom>
          <a:solidFill>
            <a:srgbClr val="1B2D63"/>
          </a:solidFill>
          <a:ln/>
        </p:spPr>
      </p:sp>
      <p:sp>
        <p:nvSpPr>
          <p:cNvPr id="8" name="Text 6"/>
          <p:cNvSpPr/>
          <p:nvPr/>
        </p:nvSpPr>
        <p:spPr>
          <a:xfrm>
            <a:off x="3695700" y="1767830"/>
            <a:ext cx="218452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95700" y="2489150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Should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95700" y="2788841"/>
            <a:ext cx="21845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Quiz, reports, dashboard, messaging, backup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564630"/>
            <a:ext cx="2527300" cy="2280692"/>
          </a:xfrm>
          <a:prstGeom prst="roundRect">
            <a:avLst>
              <a:gd name="adj" fmla="val 4455"/>
            </a:avLst>
          </a:prstGeom>
          <a:solidFill>
            <a:srgbClr val="1B2D63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1767830"/>
            <a:ext cx="218452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75400" y="2489150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Could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5400" y="2788841"/>
            <a:ext cx="218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Choose interface language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1900" y="1564630"/>
            <a:ext cx="2527300" cy="2280692"/>
          </a:xfrm>
          <a:prstGeom prst="roundRect">
            <a:avLst>
              <a:gd name="adj" fmla="val 4455"/>
            </a:avLst>
          </a:prstGeom>
          <a:solidFill>
            <a:srgbClr val="1B2D63"/>
          </a:solidFill>
          <a:ln/>
        </p:spPr>
      </p:sp>
      <p:sp>
        <p:nvSpPr>
          <p:cNvPr id="16" name="Text 14"/>
          <p:cNvSpPr/>
          <p:nvPr/>
        </p:nvSpPr>
        <p:spPr>
          <a:xfrm>
            <a:off x="9055100" y="1767830"/>
            <a:ext cx="218452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055100" y="2489150"/>
            <a:ext cx="2184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Won't for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5100" y="2788841"/>
            <a:ext cx="21845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mobile app, school-bus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150122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4E9F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use case is traced to user stories and functional requirements, for example UC9 Pay Fees Online to US-12 and US-22 and to FREQ-19, FREQ-20 and FREQ-35.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4386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D1 use case list and traceability 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Message sequence: main success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01130"/>
          <a:ext cx="10553700" cy="3593207"/>
        </p:xfrm>
        <a:graphic>
          <a:graphicData uri="http://schemas.openxmlformats.org/drawingml/2006/table">
            <a:tbl>
              <a:tblPr/>
              <a:tblGrid>
                <a:gridCol w="738759"/>
                <a:gridCol w="2427351"/>
                <a:gridCol w="2427351"/>
                <a:gridCol w="4960239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Step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From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Message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Open Fees, select a child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Outstanding fees and history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Choose fee and payment method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Amount summary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Confirm payment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Payment Gateway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Payment request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Payment Gateway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Approved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Record payment, update balance, generate receipt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EduLink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Notification Service, Parent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Send confirmation; show receipt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3511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D5 (table form)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Consistency check: 3 pass, 2 partly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01130"/>
          <a:ext cx="10553700" cy="2618184"/>
        </p:xfrm>
        <a:graphic>
          <a:graphicData uri="http://schemas.openxmlformats.org/drawingml/2006/table">
            <a:tbl>
              <a:tblPr/>
              <a:tblGrid>
                <a:gridCol w="4432554"/>
                <a:gridCol w="1266444"/>
                <a:gridCol w="485470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Check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Result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Note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DF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Every use case has an actor and appears in the diagram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Pass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All 18 use cases are in the diagram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Sequence messages match the main scenario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Pass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Messages 1 to 9 are steps 1 to 9 of UC9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Activity branches match the extensions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Partly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Extension 9a, push fails, is not drawn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Domain classes match the use cases by name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Partly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Use cases say grades and timetable; the model says GradeRecord and Period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Non-functional constraints appear as notes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Pass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04A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Time limits, payment methods and logging are listed</a:t>
                      </a:r>
                      <a:endParaRPr lang="en-US" sz="13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2465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Lab 4, deliverable D7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6F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47800" y="1634133"/>
            <a:ext cx="68605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Draw extension 9a, push fails, as a branch in the activity diagram.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13866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47800" y="2258963"/>
            <a:ext cx="697343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the model's names, GradeRecord and Period, in the use cases.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276349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47800" y="2883793"/>
            <a:ext cx="847111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Confirm the fee-payment gap with a parent survey and add Google Play reviews.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38832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47800" y="3508623"/>
            <a:ext cx="841045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Decide on partial payments, refunds and how long a payment may stay pending.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013150"/>
            <a:ext cx="50800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2B5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47800" y="4133453"/>
            <a:ext cx="880985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7F6F1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Align story and requirement IDs between Lab 3 and Lab 4, then run the peer review.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7236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Sources: Lab 1 conclusion, Lab 4 open issues and consistency 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6D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Link Requirements and UML">
  <a:themeElements>
    <a:clrScheme name="EduLink Requirements and UML">
      <a:dk1>
        <a:srgbClr val="12204A"/>
      </a:dk1>
      <a:lt1>
        <a:srgbClr val="F7F6F1"/>
      </a:lt1>
      <a:dk2>
        <a:srgbClr val="4B5674"/>
      </a:dk2>
      <a:lt2>
        <a:srgbClr val="E0E1E0"/>
      </a:lt2>
      <a:accent1>
        <a:srgbClr val="F2B544"/>
      </a:accent1>
      <a:accent2>
        <a:srgbClr val="0E7C98"/>
      </a:accent2>
      <a:accent3>
        <a:srgbClr val="1B2D63"/>
      </a:accent3>
      <a:accent4>
        <a:srgbClr val="A9B6D6"/>
      </a:accent4>
      <a:accent5>
        <a:srgbClr val="1AA6C9"/>
      </a:accent5>
      <a:accent6>
        <a:srgbClr val="E0A02F"/>
      </a:accent6>
      <a:hlink>
        <a:srgbClr val="0563C1"/>
      </a:hlink>
      <a:folHlink>
        <a:srgbClr val="954F72"/>
      </a:folHlink>
    </a:clrScheme>
    <a:fontScheme name="EduLink Requirements and UML">
      <a:majorFont>
        <a:latin typeface="Public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EduLink Requirements and UML</dc:title>
  <dc:subject/>
  <dc:creator/>
  <cp:lastModifiedBy/>
  <cp:revision>1</cp:revision>
  <dcterms:created xsi:type="dcterms:W3CDTF">2026-10-12T18:26:16Z</dcterms:created>
  <dcterms:modified xsi:type="dcterms:W3CDTF">2026-10-12T18:26:16Z</dcterms:modified>
</cp:coreProperties>
</file>